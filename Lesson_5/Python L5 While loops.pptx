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useo 300" panose="02000000000000000000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useo 700" panose="02000000000000000000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000F2E"/>
    <a:srgbClr val="B3CCFF"/>
    <a:srgbClr val="1B70ED"/>
    <a:srgbClr val="0C2026"/>
    <a:srgbClr val="31859C"/>
    <a:srgbClr val="003F46"/>
    <a:srgbClr val="420614"/>
    <a:srgbClr val="780A24"/>
    <a:srgbClr val="F32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CD2F9-6AC2-43EF-8070-94F01F199CD2}" type="datetimeFigureOut">
              <a:rPr lang="en-GB" smtClean="0"/>
              <a:t>19/09/2015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BD24F-EF71-479E-BCF7-EB9587CDDE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1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90571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5570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37156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27941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2647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820120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07784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68010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3017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1757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059" y="1662253"/>
            <a:ext cx="9144000" cy="1038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700808"/>
            <a:ext cx="9144000" cy="4464496"/>
          </a:xfrm>
          <a:prstGeom prst="rect">
            <a:avLst/>
          </a:prstGeom>
          <a:gradFill>
            <a:gsLst>
              <a:gs pos="88000">
                <a:srgbClr val="1B70ED"/>
              </a:gs>
              <a:gs pos="0">
                <a:srgbClr val="1B70ED">
                  <a:lumMod val="70000"/>
                </a:srgbClr>
              </a:gs>
              <a:gs pos="100000">
                <a:srgbClr val="1B70ED">
                  <a:lumMod val="70000"/>
                </a:srgbClr>
              </a:gs>
              <a:gs pos="14000">
                <a:srgbClr val="1B70E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747592"/>
            <a:ext cx="6400800" cy="98566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GB" sz="4400" b="0" kern="1200" baseline="0" dirty="0">
                <a:solidFill>
                  <a:srgbClr val="002060"/>
                </a:solidFill>
                <a:latin typeface="Museo 300" panose="02000000000000000000" pitchFamily="2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Unit Name</a:t>
            </a:r>
            <a:endParaRPr lang="en-GB" dirty="0"/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457200" y="2112938"/>
            <a:ext cx="8229600" cy="752499"/>
          </a:xfrm>
          <a:prstGeom prst="rect">
            <a:avLst/>
          </a:prstGeom>
        </p:spPr>
        <p:txBody>
          <a:bodyPr/>
          <a:lstStyle>
            <a:lvl1pPr>
              <a:defRPr lang="en-GB" sz="9600" b="1" kern="1200" dirty="0">
                <a:solidFill>
                  <a:schemeClr val="bg1"/>
                </a:solidFill>
                <a:latin typeface="Museo 700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23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1851"/>
            <a:ext cx="8229600" cy="88297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1659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37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 rot="10800000">
            <a:off x="-70718" y="639105"/>
            <a:ext cx="9235440" cy="114202"/>
          </a:xfrm>
          <a:prstGeom prst="rect">
            <a:avLst/>
          </a:prstGeom>
          <a:solidFill>
            <a:srgbClr val="0C2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  <a:latin typeface="Museo 300" panose="020000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 rot="10800000">
            <a:off x="-67628" y="-1983"/>
            <a:ext cx="9235440" cy="712879"/>
          </a:xfrm>
          <a:prstGeom prst="rect">
            <a:avLst/>
          </a:prstGeom>
          <a:solidFill>
            <a:srgbClr val="1B7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useo 300" panose="02000000000000000000" pitchFamily="2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564526" y="28487"/>
            <a:ext cx="4487944" cy="635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Introduction to Python</a:t>
            </a:r>
            <a:b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Museo 300" panose="02000000000000000000" pitchFamily="2" charset="0"/>
                <a:cs typeface="Arial" pitchFamily="34" charset="0"/>
              </a:rPr>
            </a:b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rgbClr val="B3CCFF"/>
                </a:solidFill>
                <a:effectLst/>
                <a:latin typeface="Museo 300" panose="02000000000000000000" pitchFamily="2" charset="0"/>
                <a:cs typeface="Arial" pitchFamily="34" charset="0"/>
              </a:rPr>
              <a:t>L5 While Loops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B3CCFF"/>
              </a:solidFill>
              <a:effectLst/>
              <a:latin typeface="Museo 300" panose="02000000000000000000" pitchFamily="2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06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59560"/>
            <a:ext cx="6400800" cy="985664"/>
          </a:xfrm>
        </p:spPr>
        <p:txBody>
          <a:bodyPr/>
          <a:lstStyle/>
          <a:p>
            <a:r>
              <a:rPr lang="en-GB" dirty="0" smtClean="0">
                <a:solidFill>
                  <a:srgbClr val="000F2E"/>
                </a:solidFill>
              </a:rPr>
              <a:t>Introduction to Python</a:t>
            </a:r>
            <a:endParaRPr lang="en-GB" dirty="0">
              <a:solidFill>
                <a:srgbClr val="000F2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8469"/>
            <a:ext cx="8229600" cy="752499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While Loops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052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 smtClean="0"/>
              <a:t>Learning Objectives</a:t>
            </a:r>
          </a:p>
        </p:txBody>
      </p:sp>
      <p:sp>
        <p:nvSpPr>
          <p:cNvPr id="9219" name="Content Placeholder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GB" altLang="en-US" smtClean="0"/>
              <a:t>Use a </a:t>
            </a:r>
            <a:r>
              <a:rPr lang="en-GB" altLang="en-US" b="1" smtClean="0"/>
              <a:t>while</a:t>
            </a:r>
            <a:r>
              <a:rPr lang="en-GB" altLang="en-US" smtClean="0"/>
              <a:t> loop in a program</a:t>
            </a:r>
          </a:p>
          <a:p>
            <a:pPr eaLnBrk="1" hangingPunct="1"/>
            <a:r>
              <a:rPr lang="en-GB" altLang="en-US" smtClean="0"/>
              <a:t>Use an </a:t>
            </a:r>
            <a:r>
              <a:rPr lang="en-GB" altLang="en-US" b="1" smtClean="0"/>
              <a:t>if</a:t>
            </a:r>
            <a:r>
              <a:rPr lang="en-GB" altLang="en-US" smtClean="0"/>
              <a:t> statement within a while loop</a:t>
            </a:r>
          </a:p>
          <a:p>
            <a:pPr eaLnBrk="1" hangingPunct="1"/>
            <a:r>
              <a:rPr lang="en-GB" altLang="en-US" smtClean="0"/>
              <a:t>Use a function to generate a random number</a:t>
            </a:r>
          </a:p>
        </p:txBody>
      </p:sp>
    </p:spTree>
    <p:extLst>
      <p:ext uri="{BB962C8B-B14F-4D97-AF65-F5344CB8AC3E}">
        <p14:creationId xmlns:p14="http://schemas.microsoft.com/office/powerpoint/2010/main" val="306511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smtClean="0"/>
              <a:t>Structure of a While loop</a:t>
            </a:r>
          </a:p>
        </p:txBody>
      </p:sp>
      <p:grpSp>
        <p:nvGrpSpPr>
          <p:cNvPr id="11267" name="Group 23"/>
          <p:cNvGrpSpPr>
            <a:grpSpLocks/>
          </p:cNvGrpSpPr>
          <p:nvPr/>
        </p:nvGrpSpPr>
        <p:grpSpPr bwMode="auto">
          <a:xfrm>
            <a:off x="2336800" y="1773238"/>
            <a:ext cx="4827588" cy="4679950"/>
            <a:chOff x="1111" y="1117"/>
            <a:chExt cx="3041" cy="2948"/>
          </a:xfrm>
        </p:grpSpPr>
        <p:sp>
          <p:nvSpPr>
            <p:cNvPr id="4" name="Oval 3"/>
            <p:cNvSpPr/>
            <p:nvPr/>
          </p:nvSpPr>
          <p:spPr>
            <a:xfrm>
              <a:off x="2307" y="1117"/>
              <a:ext cx="182" cy="181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sp>
          <p:nvSpPr>
            <p:cNvPr id="5" name="Flowchart: Decision 4"/>
            <p:cNvSpPr/>
            <p:nvPr/>
          </p:nvSpPr>
          <p:spPr>
            <a:xfrm>
              <a:off x="1475" y="1525"/>
              <a:ext cx="1846" cy="895"/>
            </a:xfrm>
            <a:prstGeom prst="flowChartDecision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b="1" dirty="0"/>
                <a:t>Condition</a:t>
              </a:r>
            </a:p>
          </p:txBody>
        </p:sp>
        <p:sp>
          <p:nvSpPr>
            <p:cNvPr id="6" name="Flowchart: Process 5"/>
            <p:cNvSpPr/>
            <p:nvPr/>
          </p:nvSpPr>
          <p:spPr>
            <a:xfrm>
              <a:off x="1566" y="2795"/>
              <a:ext cx="1588" cy="589"/>
            </a:xfrm>
            <a:prstGeom prst="flowChartProcess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GB" sz="2400" b="1" dirty="0"/>
                <a:t>Conditional Code</a:t>
              </a:r>
            </a:p>
          </p:txBody>
        </p:sp>
        <p:cxnSp>
          <p:nvCxnSpPr>
            <p:cNvPr id="11271" name="Straight Arrow Connector 8"/>
            <p:cNvCxnSpPr>
              <a:cxnSpLocks noChangeShapeType="1"/>
            </p:cNvCxnSpPr>
            <p:nvPr/>
          </p:nvCxnSpPr>
          <p:spPr bwMode="auto">
            <a:xfrm flipH="1">
              <a:off x="1111" y="1389"/>
              <a:ext cx="1270" cy="0"/>
            </a:xfrm>
            <a:prstGeom prst="straightConnector1">
              <a:avLst/>
            </a:prstGeom>
            <a:noFill/>
            <a:ln w="38100" algn="ctr">
              <a:solidFill>
                <a:srgbClr val="21596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2" name="Straight Arrow Connector 16"/>
            <p:cNvCxnSpPr>
              <a:cxnSpLocks noChangeShapeType="1"/>
            </p:cNvCxnSpPr>
            <p:nvPr/>
          </p:nvCxnSpPr>
          <p:spPr bwMode="auto">
            <a:xfrm>
              <a:off x="1120" y="1389"/>
              <a:ext cx="0" cy="2132"/>
            </a:xfrm>
            <a:prstGeom prst="straightConnector1">
              <a:avLst/>
            </a:prstGeom>
            <a:noFill/>
            <a:ln w="38100" algn="ctr">
              <a:solidFill>
                <a:srgbClr val="21596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Straight Arrow Connector 22"/>
            <p:cNvCxnSpPr/>
            <p:nvPr/>
          </p:nvCxnSpPr>
          <p:spPr>
            <a:xfrm>
              <a:off x="2382" y="3380"/>
              <a:ext cx="0" cy="685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74" name="TextBox 23"/>
            <p:cNvSpPr txBox="1">
              <a:spLocks noChangeArrowheads="1"/>
            </p:cNvSpPr>
            <p:nvPr/>
          </p:nvSpPr>
          <p:spPr bwMode="auto">
            <a:xfrm>
              <a:off x="3336" y="1602"/>
              <a:ext cx="81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latin typeface="Arial" pitchFamily="34" charset="0"/>
                </a:rPr>
                <a:t>If condition is false</a:t>
              </a:r>
            </a:p>
          </p:txBody>
        </p:sp>
        <p:sp>
          <p:nvSpPr>
            <p:cNvPr id="11275" name="TextBox 24"/>
            <p:cNvSpPr txBox="1">
              <a:spLocks noChangeArrowheads="1"/>
            </p:cNvSpPr>
            <p:nvPr/>
          </p:nvSpPr>
          <p:spPr bwMode="auto">
            <a:xfrm>
              <a:off x="2406" y="2420"/>
              <a:ext cx="81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itchFamily="34" charset="0"/>
                <a:buChar char="•"/>
                <a:defRPr sz="3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itchFamily="34" charset="0"/>
                <a:buChar char="–"/>
                <a:defRPr sz="28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itchFamily="34" charset="0"/>
                <a:buChar char="•"/>
                <a:defRPr sz="24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itchFamily="34" charset="0"/>
                <a:buChar char="–"/>
                <a:defRPr sz="20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itchFamily="34" charset="0"/>
                <a:buChar char="»"/>
                <a:defRPr sz="20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00" b="1">
                  <a:latin typeface="Arial" pitchFamily="34" charset="0"/>
                </a:rPr>
                <a:t>If condition is true</a:t>
              </a:r>
            </a:p>
          </p:txBody>
        </p:sp>
        <p:cxnSp>
          <p:nvCxnSpPr>
            <p:cNvPr id="3" name="Straight Arrow Connector 8"/>
            <p:cNvCxnSpPr/>
            <p:nvPr/>
          </p:nvCxnSpPr>
          <p:spPr>
            <a:xfrm flipH="1">
              <a:off x="2382" y="3702"/>
              <a:ext cx="1759" cy="0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8"/>
            <p:cNvCxnSpPr/>
            <p:nvPr/>
          </p:nvCxnSpPr>
          <p:spPr>
            <a:xfrm flipH="1">
              <a:off x="1112" y="3521"/>
              <a:ext cx="1270" cy="1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16"/>
            <p:cNvCxnSpPr/>
            <p:nvPr/>
          </p:nvCxnSpPr>
          <p:spPr>
            <a:xfrm>
              <a:off x="4141" y="1978"/>
              <a:ext cx="0" cy="1724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9" name="Straight Arrow Connector 8"/>
            <p:cNvCxnSpPr>
              <a:cxnSpLocks noChangeShapeType="1"/>
            </p:cNvCxnSpPr>
            <p:nvPr/>
          </p:nvCxnSpPr>
          <p:spPr bwMode="auto">
            <a:xfrm flipH="1">
              <a:off x="3295" y="1968"/>
              <a:ext cx="857" cy="3"/>
            </a:xfrm>
            <a:prstGeom prst="straightConnector1">
              <a:avLst/>
            </a:prstGeom>
            <a:noFill/>
            <a:ln w="38100" algn="ctr">
              <a:solidFill>
                <a:srgbClr val="21596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Arrow Connector 23"/>
            <p:cNvCxnSpPr/>
            <p:nvPr/>
          </p:nvCxnSpPr>
          <p:spPr>
            <a:xfrm>
              <a:off x="2382" y="2110"/>
              <a:ext cx="0" cy="685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4" idx="4"/>
            </p:cNvCxnSpPr>
            <p:nvPr/>
          </p:nvCxnSpPr>
          <p:spPr>
            <a:xfrm flipH="1">
              <a:off x="2393" y="1298"/>
              <a:ext cx="5" cy="227"/>
            </a:xfrm>
            <a:prstGeom prst="straightConnector1">
              <a:avLst/>
            </a:prstGeom>
            <a:ln w="38100">
              <a:solidFill>
                <a:schemeClr val="accent5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348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dirty="0" smtClean="0"/>
              <a:t>Example 1: While Loop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7373"/>
            <a:ext cx="8229600" cy="4165923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800" dirty="0" smtClean="0">
                <a:solidFill>
                  <a:srgbClr val="002060"/>
                </a:solidFill>
                <a:cs typeface="Consolas" pitchFamily="49" charset="0"/>
              </a:rPr>
              <a:t>‘Nagging’ Example</a:t>
            </a:r>
            <a:endParaRPr lang="en-GB" altLang="en-US" sz="2800" dirty="0">
              <a:solidFill>
                <a:srgbClr val="002060"/>
              </a:solidFill>
              <a:cs typeface="Consolas" pitchFamily="49" charset="0"/>
            </a:endParaRPr>
          </a:p>
          <a:p>
            <a:pPr marL="0" indent="0" eaLnBrk="1" hangingPunct="1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/>
            </a:pPr>
            <a:endParaRPr lang="en-GB" altLang="en-US" sz="800" dirty="0" smtClean="0">
              <a:latin typeface="Consolas" pitchFamily="49" charset="0"/>
            </a:endParaRP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print </a:t>
            </a: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“Mum, can I have an ice cream?”</a:t>
            </a:r>
            <a:endParaRPr lang="en-GB" altLang="en-US" sz="2800" dirty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input answer</a:t>
            </a: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while answer is </a:t>
            </a: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“No”</a:t>
            </a:r>
            <a:endParaRPr lang="en-GB" altLang="en-US" sz="2800" dirty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	print </a:t>
            </a: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“Please can I have an ice cream?”</a:t>
            </a:r>
            <a:endParaRPr lang="en-GB" altLang="en-US" sz="2800" dirty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	input </a:t>
            </a: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answer</a:t>
            </a: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e</a:t>
            </a: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nd while loop</a:t>
            </a:r>
            <a:endParaRPr lang="en-GB" altLang="en-US" sz="2800" dirty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hangingPunct="1">
              <a:lnSpc>
                <a:spcPct val="110000"/>
              </a:lnSpc>
              <a:buFont typeface="Arial" pitchFamily="34" charset="0"/>
              <a:buNone/>
              <a:defRPr/>
            </a:pPr>
            <a:r>
              <a:rPr lang="en-GB" altLang="en-US" sz="28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print “Thank you!”</a:t>
            </a:r>
            <a:endParaRPr lang="en-GB" altLang="en-US" sz="2800" dirty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85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GB" altLang="en-US" b="1" dirty="0" smtClean="0"/>
              <a:t>While Loop Syntax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2071389"/>
            <a:ext cx="8363272" cy="4165923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#Quiz Question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endParaRPr lang="en-GB" altLang="en-US" sz="2400" dirty="0" smtClean="0">
              <a:solidFill>
                <a:srgbClr val="FF0000"/>
              </a:solidFill>
              <a:latin typeface="Consolas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latin typeface="Consolas" pitchFamily="49" charset="0"/>
              </a:rPr>
              <a:t>answer = </a:t>
            </a:r>
            <a:r>
              <a:rPr lang="en-GB" altLang="en-US" sz="2400" dirty="0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 smtClean="0">
                <a:solidFill>
                  <a:srgbClr val="00B050"/>
                </a:solidFill>
                <a:latin typeface="Consolas" pitchFamily="49" charset="0"/>
              </a:rPr>
              <a:t>"What is the capital of France?"</a:t>
            </a:r>
            <a:r>
              <a:rPr lang="en-GB" altLang="en-US" sz="2400" dirty="0" smtClean="0">
                <a:latin typeface="Consolas" pitchFamily="49" charset="0"/>
              </a:rPr>
              <a:t>)</a:t>
            </a:r>
            <a:endParaRPr lang="en-GB" altLang="en-US" sz="2400" dirty="0">
              <a:latin typeface="Consolas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latin typeface="Consolas" pitchFamily="49" charset="0"/>
              </a:rPr>
              <a:t>answer = </a:t>
            </a:r>
            <a:r>
              <a:rPr lang="en-GB" altLang="en-US" sz="2400" dirty="0" err="1" smtClean="0">
                <a:latin typeface="Consolas" pitchFamily="49" charset="0"/>
              </a:rPr>
              <a:t>answer.title</a:t>
            </a:r>
            <a:r>
              <a:rPr lang="en-GB" altLang="en-US" sz="2400" dirty="0" smtClean="0">
                <a:latin typeface="Consolas" pitchFamily="49" charset="0"/>
              </a:rPr>
              <a:t>()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endParaRPr lang="en-GB" altLang="en-US" sz="2400" dirty="0" smtClean="0">
              <a:solidFill>
                <a:srgbClr val="FF0000"/>
              </a:solidFill>
              <a:latin typeface="Consolas" pitchFamily="49" charset="0"/>
            </a:endParaRP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</a:rPr>
              <a:t>while</a:t>
            </a: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 smtClean="0">
                <a:latin typeface="Consolas" pitchFamily="49" charset="0"/>
              </a:rPr>
              <a:t>answer</a:t>
            </a: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 smtClean="0">
                <a:latin typeface="Consolas" pitchFamily="49" charset="0"/>
              </a:rPr>
              <a:t>!=</a:t>
            </a: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 smtClean="0">
                <a:solidFill>
                  <a:srgbClr val="00B050"/>
                </a:solidFill>
                <a:latin typeface="Consolas" pitchFamily="49" charset="0"/>
              </a:rPr>
              <a:t>"Paris"</a:t>
            </a:r>
            <a:r>
              <a:rPr lang="en-GB" altLang="en-US" sz="2400" dirty="0" smtClean="0">
                <a:latin typeface="Consolas" pitchFamily="49" charset="0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   </a:t>
            </a:r>
            <a:r>
              <a:rPr lang="en-GB" altLang="en-US" sz="2400" dirty="0" smtClean="0">
                <a:latin typeface="Consolas" pitchFamily="49" charset="0"/>
              </a:rPr>
              <a:t>answer =</a:t>
            </a: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 smtClean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 smtClean="0">
                <a:solidFill>
                  <a:srgbClr val="00B050"/>
                </a:solidFill>
                <a:latin typeface="Consolas" pitchFamily="49" charset="0"/>
              </a:rPr>
              <a:t>"Incorrect, try again: "</a:t>
            </a:r>
            <a:r>
              <a:rPr lang="en-GB" altLang="en-US" sz="2400" dirty="0">
                <a:latin typeface="Consolas" pitchFamily="49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solidFill>
                  <a:srgbClr val="FF0000"/>
                </a:solidFill>
                <a:latin typeface="Consolas" pitchFamily="49" charset="0"/>
              </a:rPr>
              <a:t>    </a:t>
            </a:r>
            <a:r>
              <a:rPr lang="en-GB" altLang="en-US" sz="2400" dirty="0" smtClean="0">
                <a:latin typeface="Consolas" pitchFamily="49" charset="0"/>
              </a:rPr>
              <a:t>answer = </a:t>
            </a:r>
            <a:r>
              <a:rPr lang="en-GB" altLang="en-US" sz="2400" dirty="0" err="1" smtClean="0">
                <a:latin typeface="Consolas" pitchFamily="49" charset="0"/>
              </a:rPr>
              <a:t>answer.title</a:t>
            </a:r>
            <a:r>
              <a:rPr lang="en-GB" altLang="en-US" sz="2400" dirty="0" smtClean="0">
                <a:latin typeface="Consolas" pitchFamily="49" charset="0"/>
              </a:rPr>
              <a:t>()</a:t>
            </a:r>
          </a:p>
          <a:p>
            <a:pPr marL="0" indent="0" eaLnBrk="1" hangingPunct="1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en-GB" altLang="en-US" sz="2400" dirty="0" smtClean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 smtClean="0">
                <a:solidFill>
                  <a:srgbClr val="00B050"/>
                </a:solidFill>
                <a:latin typeface="Consolas" pitchFamily="49" charset="0"/>
              </a:rPr>
              <a:t>"Correct! Well done."</a:t>
            </a:r>
            <a:r>
              <a:rPr lang="en-GB" altLang="en-US" sz="2400" dirty="0">
                <a:latin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00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Adding a Counter Variable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Add a Counter variable to say how many times the user attempted 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560" y="2996952"/>
            <a:ext cx="8316912" cy="34163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altLang="en-US" sz="2400" dirty="0">
                <a:latin typeface="Consolas" pitchFamily="49" charset="0"/>
              </a:rPr>
              <a:t>answer = </a:t>
            </a:r>
            <a:r>
              <a:rPr lang="en-GB" altLang="en-US" sz="2400" dirty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"What is the capital of France?"</a:t>
            </a:r>
            <a:r>
              <a:rPr lang="en-GB" altLang="en-US" sz="2400" dirty="0">
                <a:latin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lang="en-GB" altLang="en-US" sz="2400" dirty="0">
                <a:latin typeface="Consolas" pitchFamily="49" charset="0"/>
              </a:rPr>
              <a:t>answer = </a:t>
            </a:r>
            <a:r>
              <a:rPr lang="en-GB" altLang="en-US" sz="2400" dirty="0" err="1">
                <a:latin typeface="Consolas" pitchFamily="49" charset="0"/>
              </a:rPr>
              <a:t>answer.title</a:t>
            </a:r>
            <a:r>
              <a:rPr lang="en-GB" altLang="en-US" sz="2400" dirty="0">
                <a:latin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GB" altLang="en-US" sz="2400" dirty="0">
                <a:latin typeface="Consolas" pitchFamily="49" charset="0"/>
              </a:rPr>
              <a:t>counter = 1</a:t>
            </a:r>
          </a:p>
          <a:p>
            <a:pPr eaLnBrk="1" hangingPunct="1">
              <a:defRPr/>
            </a:pPr>
            <a:endParaRPr lang="en-GB" altLang="en-US" sz="2400" dirty="0">
              <a:solidFill>
                <a:srgbClr val="FF0000"/>
              </a:solidFill>
              <a:latin typeface="Consolas" pitchFamily="49" charset="0"/>
            </a:endParaRPr>
          </a:p>
          <a:p>
            <a:pPr eaLnBrk="1" hangingPunct="1">
              <a:defRPr/>
            </a:pPr>
            <a:r>
              <a:rPr lang="en-GB" altLang="en-US" sz="2400" dirty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</a:rPr>
              <a:t>while</a:t>
            </a: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>
                <a:latin typeface="Consolas" pitchFamily="49" charset="0"/>
              </a:rPr>
              <a:t>answer</a:t>
            </a: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>
                <a:latin typeface="Consolas" pitchFamily="49" charset="0"/>
              </a:rPr>
              <a:t>!=</a:t>
            </a: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"Paris"</a:t>
            </a:r>
            <a:r>
              <a:rPr lang="en-GB" altLang="en-US" sz="2400" dirty="0">
                <a:latin typeface="Consolas" pitchFamily="49" charset="0"/>
              </a:rPr>
              <a:t>:</a:t>
            </a:r>
          </a:p>
          <a:p>
            <a:pPr eaLnBrk="1" hangingPunct="1">
              <a:defRPr/>
            </a:pP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	</a:t>
            </a:r>
            <a:r>
              <a:rPr lang="en-GB" altLang="en-US" sz="2400" dirty="0">
                <a:latin typeface="Consolas" pitchFamily="49" charset="0"/>
              </a:rPr>
              <a:t>answer =</a:t>
            </a: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 </a:t>
            </a:r>
            <a:r>
              <a:rPr lang="en-GB" altLang="en-US" sz="2400" dirty="0">
                <a:solidFill>
                  <a:srgbClr val="7030A0"/>
                </a:solidFill>
                <a:latin typeface="Consolas" pitchFamily="49" charset="0"/>
              </a:rPr>
              <a:t>input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"Incorrect, try again: "</a:t>
            </a:r>
            <a:r>
              <a:rPr lang="en-GB" altLang="en-US" sz="2400" dirty="0">
                <a:latin typeface="Consolas" pitchFamily="49" charset="0"/>
              </a:rPr>
              <a:t>)</a:t>
            </a:r>
          </a:p>
          <a:p>
            <a:pPr eaLnBrk="1" hangingPunct="1">
              <a:defRPr/>
            </a:pPr>
            <a:r>
              <a:rPr lang="en-GB" altLang="en-US" sz="2400" dirty="0">
                <a:solidFill>
                  <a:srgbClr val="FF0000"/>
                </a:solidFill>
                <a:latin typeface="Consolas" pitchFamily="49" charset="0"/>
              </a:rPr>
              <a:t>	</a:t>
            </a:r>
            <a:r>
              <a:rPr lang="en-GB" altLang="en-US" sz="2400" dirty="0">
                <a:latin typeface="Consolas" pitchFamily="49" charset="0"/>
              </a:rPr>
              <a:t>answer = </a:t>
            </a:r>
            <a:r>
              <a:rPr lang="en-GB" altLang="en-US" sz="2400" dirty="0" err="1">
                <a:latin typeface="Consolas" pitchFamily="49" charset="0"/>
              </a:rPr>
              <a:t>answer.title</a:t>
            </a:r>
            <a:r>
              <a:rPr lang="en-GB" altLang="en-US" sz="2400" dirty="0">
                <a:latin typeface="Consolas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GB" altLang="en-US" sz="2400" dirty="0">
                <a:latin typeface="Consolas" pitchFamily="49" charset="0"/>
              </a:rPr>
              <a:t>	counter = counter + 1</a:t>
            </a:r>
          </a:p>
          <a:p>
            <a:pPr>
              <a:defRPr/>
            </a:pPr>
            <a:r>
              <a:rPr lang="en-GB" altLang="en-US" sz="2400" dirty="0">
                <a:solidFill>
                  <a:srgbClr val="7030A0"/>
                </a:solidFill>
                <a:latin typeface="Consolas" pitchFamily="49" charset="0"/>
              </a:rPr>
              <a:t>print</a:t>
            </a:r>
            <a:r>
              <a:rPr lang="en-GB" altLang="en-US" sz="2400" dirty="0">
                <a:latin typeface="Consolas" pitchFamily="49" charset="0"/>
              </a:rPr>
              <a:t>(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"Correct! You had ",</a:t>
            </a:r>
            <a:r>
              <a:rPr lang="en-GB" altLang="en-US" sz="2400" dirty="0" smtClean="0">
                <a:latin typeface="Consolas" pitchFamily="49" charset="0"/>
              </a:rPr>
              <a:t>counter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, "attempts</a:t>
            </a:r>
            <a:r>
              <a:rPr lang="en-GB" altLang="en-US" sz="2400" dirty="0">
                <a:solidFill>
                  <a:srgbClr val="00B050"/>
                </a:solidFill>
                <a:latin typeface="Consolas" pitchFamily="49" charset="0"/>
              </a:rPr>
              <a:t>."</a:t>
            </a:r>
            <a:r>
              <a:rPr lang="en-GB" altLang="en-US" sz="2400" dirty="0">
                <a:latin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184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smtClean="0"/>
              <a:t>Example 2: While loop 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3357"/>
            <a:ext cx="8229600" cy="4165923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rgbClr val="0070C0"/>
                </a:solidFill>
                <a:cs typeface="Consolas" pitchFamily="49" charset="0"/>
              </a:rPr>
              <a:t>Count </a:t>
            </a:r>
            <a:r>
              <a:rPr lang="en-GB" sz="2600" dirty="0" smtClean="0">
                <a:solidFill>
                  <a:srgbClr val="0070C0"/>
                </a:solidFill>
                <a:cs typeface="Consolas" pitchFamily="49" charset="0"/>
                <a:sym typeface="Wingdings" pitchFamily="2" charset="2"/>
              </a:rPr>
              <a:t> 0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RunningTotal  0</a:t>
            </a:r>
            <a:endParaRPr lang="en-GB" sz="2600" dirty="0" smtClean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input Number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while Number &lt;&gt; 0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    	</a:t>
            </a:r>
            <a:r>
              <a:rPr lang="en-GB" sz="2600" dirty="0" smtClean="0">
                <a:solidFill>
                  <a:srgbClr val="0070C0"/>
                </a:solidFill>
                <a:cs typeface="Consolas" pitchFamily="49" charset="0"/>
              </a:rPr>
              <a:t>Count </a:t>
            </a:r>
            <a:r>
              <a:rPr lang="en-GB" sz="2600" dirty="0" smtClean="0">
                <a:solidFill>
                  <a:srgbClr val="0070C0"/>
                </a:solidFill>
                <a:cs typeface="Consolas" pitchFamily="49" charset="0"/>
                <a:sym typeface="Wingdings" pitchFamily="2" charset="2"/>
              </a:rPr>
              <a:t> Count + 1</a:t>
            </a:r>
            <a:endParaRPr lang="en-GB" sz="2600" dirty="0" smtClean="0">
              <a:solidFill>
                <a:srgbClr val="0070C0"/>
              </a:solidFill>
              <a:cs typeface="Consolas" pitchFamily="49" charset="0"/>
            </a:endParaRP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	RunningTotal 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 RunningTotal + Number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	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input next number</a:t>
            </a: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e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  <a:sym typeface="Wingdings" pitchFamily="2" charset="2"/>
              </a:rPr>
              <a:t>nd while loop</a:t>
            </a:r>
            <a:endParaRPr lang="en-GB" sz="2600" dirty="0" smtClean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display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"You 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entered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 </a:t>
            </a:r>
            <a:r>
              <a:rPr lang="en-GB" sz="2600" dirty="0" smtClean="0">
                <a:solidFill>
                  <a:srgbClr val="0070C0"/>
                </a:solidFill>
                <a:cs typeface="Consolas" pitchFamily="49" charset="0"/>
              </a:rPr>
              <a:t>Count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numbers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</a:t>
            </a:r>
            <a:endParaRPr lang="en-GB" sz="2600" dirty="0" smtClean="0">
              <a:solidFill>
                <a:schemeClr val="accent6">
                  <a:lumMod val="75000"/>
                </a:schemeClr>
              </a:solidFill>
              <a:cs typeface="Consolas" pitchFamily="49" charset="0"/>
            </a:endParaRPr>
          </a:p>
          <a:p>
            <a:pPr marL="0" indent="0" eaLnBrk="1" fontAlgn="auto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display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"Total 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= </a:t>
            </a:r>
            <a:r>
              <a:rPr lang="en-GB" sz="2600" dirty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" </a:t>
            </a: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cs typeface="Consolas" pitchFamily="49" charset="0"/>
              </a:rPr>
              <a:t>RunningTotal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600" dirty="0" smtClean="0">
                <a:solidFill>
                  <a:schemeClr val="accent6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	</a:t>
            </a:r>
            <a:endParaRPr lang="en-GB" sz="2600" dirty="0" smtClean="0">
              <a:latin typeface="Consolas" pitchFamily="49" charset="0"/>
              <a:cs typeface="Consolas" pitchFamily="49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64090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IF Statements inside While Loops!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518864" y="1700808"/>
            <a:ext cx="8229600" cy="4165923"/>
          </a:xfrm>
        </p:spPr>
        <p:txBody>
          <a:bodyPr/>
          <a:lstStyle/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input password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attempts = 0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while attempts not equal to 3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	enter password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	attempts </a:t>
            </a:r>
            <a:r>
              <a:rPr lang="en-GB" altLang="en-US" sz="2400" dirty="0" smtClean="0">
                <a:solidFill>
                  <a:srgbClr val="E46C0A"/>
                </a:solidFill>
                <a:sym typeface="Wingdings" pitchFamily="2" charset="2"/>
              </a:rPr>
              <a:t> attempts + 1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</a:rPr>
              <a:t>	</a:t>
            </a:r>
            <a:r>
              <a:rPr lang="en-GB" altLang="en-US" sz="2400" dirty="0">
                <a:solidFill>
                  <a:srgbClr val="0070C0"/>
                </a:solidFill>
                <a:cs typeface="Consolas" pitchFamily="49" charset="0"/>
              </a:rPr>
              <a:t>if password correct then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>
                <a:solidFill>
                  <a:srgbClr val="0070C0"/>
                </a:solidFill>
                <a:cs typeface="Consolas" pitchFamily="49" charset="0"/>
              </a:rPr>
              <a:t>    		display entry screen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>
                <a:solidFill>
                  <a:srgbClr val="0070C0"/>
                </a:solidFill>
                <a:cs typeface="Consolas" pitchFamily="49" charset="0"/>
              </a:rPr>
              <a:t>		attempts = 3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>
                <a:solidFill>
                  <a:srgbClr val="0070C0"/>
                </a:solidFill>
                <a:cs typeface="Consolas" pitchFamily="49" charset="0"/>
              </a:rPr>
              <a:t>	else 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>
                <a:solidFill>
                  <a:srgbClr val="0070C0"/>
                </a:solidFill>
                <a:cs typeface="Consolas" pitchFamily="49" charset="0"/>
              </a:rPr>
              <a:t>		display “Password Incorrect”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  <a:sym typeface="Wingdings" pitchFamily="2" charset="2"/>
              </a:rPr>
              <a:t>if password incorrect </a:t>
            </a:r>
          </a:p>
          <a:p>
            <a:pPr marL="0" indent="0" eaLnBrk="1" hangingPunct="1">
              <a:spcBef>
                <a:spcPts val="200"/>
              </a:spcBef>
              <a:buFont typeface="Arial" pitchFamily="34" charset="0"/>
              <a:buNone/>
            </a:pPr>
            <a:r>
              <a:rPr lang="en-GB" altLang="en-US" sz="2400" dirty="0" smtClean="0">
                <a:solidFill>
                  <a:srgbClr val="E46C0A"/>
                </a:solidFill>
                <a:sym typeface="Wingdings" pitchFamily="2" charset="2"/>
              </a:rPr>
              <a:t>	Print “You are locked out.”</a:t>
            </a:r>
            <a:endParaRPr lang="en-GB" altLang="en-US" sz="1800" dirty="0" smtClean="0">
              <a:solidFill>
                <a:srgbClr val="E46C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75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Guess My Number!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1767550"/>
            <a:ext cx="8229600" cy="4165923"/>
          </a:xfrm>
        </p:spPr>
        <p:txBody>
          <a:bodyPr/>
          <a:lstStyle/>
          <a:p>
            <a:pPr eaLnBrk="1" hangingPunct="1"/>
            <a:r>
              <a:rPr lang="en-GB" altLang="en-US" sz="3300" dirty="0" smtClean="0"/>
              <a:t>Create a computer game where the computer generates a random number between 1 and 100 and you have to guess the number.</a:t>
            </a:r>
          </a:p>
          <a:p>
            <a:pPr eaLnBrk="1" hangingPunct="1"/>
            <a:r>
              <a:rPr lang="en-GB" altLang="en-US" sz="3300" dirty="0" smtClean="0"/>
              <a:t>The game should keep a record of how many attempts you took.</a:t>
            </a:r>
          </a:p>
          <a:p>
            <a:pPr eaLnBrk="1" hangingPunct="1"/>
            <a:r>
              <a:rPr lang="en-GB" altLang="en-US" sz="3300" dirty="0" smtClean="0"/>
              <a:t>The computer should tell you whether you are too high, too low or correct with each guess.</a:t>
            </a:r>
          </a:p>
        </p:txBody>
      </p:sp>
    </p:spTree>
    <p:extLst>
      <p:ext uri="{BB962C8B-B14F-4D97-AF65-F5344CB8AC3E}">
        <p14:creationId xmlns:p14="http://schemas.microsoft.com/office/powerpoint/2010/main" val="307772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Plan your code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Use pseudocode to help you plan your game.</a:t>
            </a:r>
          </a:p>
        </p:txBody>
      </p:sp>
    </p:spTree>
    <p:extLst>
      <p:ext uri="{BB962C8B-B14F-4D97-AF65-F5344CB8AC3E}">
        <p14:creationId xmlns:p14="http://schemas.microsoft.com/office/powerpoint/2010/main" val="289998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Random Number Module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mtClean="0"/>
              <a:t>Use the following syntax:</a:t>
            </a:r>
          </a:p>
          <a:p>
            <a:pPr eaLnBrk="1" hangingPunct="1">
              <a:lnSpc>
                <a:spcPct val="90000"/>
              </a:lnSpc>
            </a:pPr>
            <a:endParaRPr lang="en-GB" altLang="en-US" smtClean="0"/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#Import the random number module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GB" altLang="en-US" smtClean="0">
                <a:solidFill>
                  <a:srgbClr val="E46C0A"/>
                </a:solidFill>
                <a:latin typeface="Consolas" pitchFamily="49" charset="0"/>
              </a:rPr>
              <a:t>import</a:t>
            </a:r>
            <a:r>
              <a:rPr lang="en-GB" altLang="en-US" smtClean="0">
                <a:latin typeface="Consolas" pitchFamily="49" charset="0"/>
              </a:rPr>
              <a:t> random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endParaRPr lang="en-GB" altLang="en-US" smtClean="0">
              <a:latin typeface="Consolas" pitchFamily="49" charset="0"/>
            </a:endParaRPr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GB" altLang="en-US" smtClean="0">
                <a:solidFill>
                  <a:srgbClr val="FF0000"/>
                </a:solidFill>
                <a:latin typeface="Consolas" pitchFamily="49" charset="0"/>
              </a:rPr>
              <a:t>#Generate a random number between 1 and 10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GB" altLang="en-US" smtClean="0">
                <a:latin typeface="Consolas" pitchFamily="49" charset="0"/>
              </a:rPr>
              <a:t>number = random.randint(1,10)</a:t>
            </a:r>
          </a:p>
        </p:txBody>
      </p:sp>
    </p:spTree>
    <p:extLst>
      <p:ext uri="{BB962C8B-B14F-4D97-AF65-F5344CB8AC3E}">
        <p14:creationId xmlns:p14="http://schemas.microsoft.com/office/powerpoint/2010/main" val="137937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Online PP Guid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PGOnline PP Guide Template</Template>
  <TotalTime>20</TotalTime>
  <Words>303</Words>
  <Application>Microsoft Office PowerPoint</Application>
  <PresentationFormat>On-screen Show (4:3)</PresentationFormat>
  <Paragraphs>81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Wingdings</vt:lpstr>
      <vt:lpstr>Consolas</vt:lpstr>
      <vt:lpstr>Museo 300</vt:lpstr>
      <vt:lpstr>Calibri</vt:lpstr>
      <vt:lpstr>Museo 700</vt:lpstr>
      <vt:lpstr>PGOnline PP Guide Template</vt:lpstr>
      <vt:lpstr>While Loops</vt:lpstr>
      <vt:lpstr>Learning Objectives</vt:lpstr>
      <vt:lpstr>Structure of a While loop</vt:lpstr>
      <vt:lpstr>Example 1: While Loop pseudocode</vt:lpstr>
      <vt:lpstr>While Loop Syntax</vt:lpstr>
      <vt:lpstr>Adding a Counter Variable</vt:lpstr>
      <vt:lpstr>Example 2: While loop pseudocode</vt:lpstr>
      <vt:lpstr>IF Statements inside While Loops!</vt:lpstr>
      <vt:lpstr>Guess My Number!</vt:lpstr>
      <vt:lpstr>Plan your code</vt:lpstr>
      <vt:lpstr>Random Number Module</vt:lpstr>
    </vt:vector>
  </TitlesOfParts>
  <Company>PG Online Ltd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While Loops</dc:title>
  <dc:creator/>
  <cp:lastModifiedBy>S L</cp:lastModifiedBy>
  <cp:revision>7</cp:revision>
  <dcterms:created xsi:type="dcterms:W3CDTF">2013-11-02T09:49:28Z</dcterms:created>
  <dcterms:modified xsi:type="dcterms:W3CDTF">2015-09-19T16:02:39Z</dcterms:modified>
</cp:coreProperties>
</file>