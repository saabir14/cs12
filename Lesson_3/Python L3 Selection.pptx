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</p:sldIdLst>
  <p:sldSz cx="9144000" cy="6858000" type="screen4x3"/>
  <p:notesSz cx="6858000" cy="9144000"/>
  <p:embeddedFontLs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Museo 300" panose="02000000000000000000" charset="0"/>
      <p:regular r:id="rId18"/>
    </p:embeddedFont>
    <p:embeddedFont>
      <p:font typeface="Museo 700" panose="02000000000000000000" charset="0"/>
      <p:bold r:id="rId19"/>
    </p:embeddedFont>
    <p:embeddedFont>
      <p:font typeface="Consolas" panose="020B0609020204030204" pitchFamily="49" charset="0"/>
      <p:regular r:id="rId20"/>
      <p:bold r:id="rId21"/>
      <p:italic r:id="rId22"/>
      <p:boldItalic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B70ED"/>
    <a:srgbClr val="000F2E"/>
    <a:srgbClr val="B3CCFF"/>
    <a:srgbClr val="002060"/>
    <a:srgbClr val="0C2026"/>
    <a:srgbClr val="31859C"/>
    <a:srgbClr val="003F46"/>
    <a:srgbClr val="420614"/>
    <a:srgbClr val="780A24"/>
    <a:srgbClr val="F32D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7" d="100"/>
          <a:sy n="57" d="100"/>
        </p:scale>
        <p:origin x="2808" y="4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font" Target="fonts/font5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4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7E4AE6-E2B2-4EB0-8CE6-757951EB27B0}" type="datetimeFigureOut">
              <a:rPr lang="en-GB" smtClean="0"/>
              <a:t>01/09/2016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D959AD-155A-4E0E-9975-9C69F9CC6DD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72201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60B2AA-D77E-4B15-B492-21C34AABFE31}" type="datetimeFigureOut">
              <a:rPr lang="en-GB" smtClean="0"/>
              <a:t>01/09/2016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44071E-F8BB-4F5D-A623-428E728562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89607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3183125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6328920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9084626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4106653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202798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4802867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3683902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3319473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4348532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7399166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3059" y="1662253"/>
            <a:ext cx="9144000" cy="1038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Museo 300" panose="02000000000000000000" pitchFamily="2" charset="0"/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1700808"/>
            <a:ext cx="9144000" cy="4464496"/>
          </a:xfrm>
          <a:prstGeom prst="rect">
            <a:avLst/>
          </a:prstGeom>
          <a:gradFill>
            <a:gsLst>
              <a:gs pos="88000">
                <a:srgbClr val="1B70ED"/>
              </a:gs>
              <a:gs pos="0">
                <a:srgbClr val="1B70ED">
                  <a:lumMod val="70000"/>
                </a:srgbClr>
              </a:gs>
              <a:gs pos="100000">
                <a:srgbClr val="1B70ED">
                  <a:lumMod val="70000"/>
                </a:srgbClr>
              </a:gs>
              <a:gs pos="14000">
                <a:srgbClr val="1B70ED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Museo 300" panose="02000000000000000000" pitchFamily="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371600" y="4747592"/>
            <a:ext cx="6400800" cy="985664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lang="en-GB" sz="4400" b="0" kern="1200" baseline="0" dirty="0">
                <a:solidFill>
                  <a:srgbClr val="002060"/>
                </a:solidFill>
                <a:latin typeface="Museo 300" panose="02000000000000000000" pitchFamily="2" charset="0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Unit Name</a:t>
            </a:r>
            <a:endParaRPr lang="en-GB" dirty="0"/>
          </a:p>
        </p:txBody>
      </p:sp>
      <p:sp>
        <p:nvSpPr>
          <p:cNvPr id="17" name="Title 16"/>
          <p:cNvSpPr>
            <a:spLocks noGrp="1"/>
          </p:cNvSpPr>
          <p:nvPr>
            <p:ph type="title" hasCustomPrompt="1"/>
          </p:nvPr>
        </p:nvSpPr>
        <p:spPr>
          <a:xfrm>
            <a:off x="457200" y="2112938"/>
            <a:ext cx="8229600" cy="752499"/>
          </a:xfrm>
          <a:prstGeom prst="rect">
            <a:avLst/>
          </a:prstGeom>
        </p:spPr>
        <p:txBody>
          <a:bodyPr/>
          <a:lstStyle>
            <a:lvl1pPr>
              <a:defRPr lang="en-GB" sz="9600" b="1" kern="1200" dirty="0">
                <a:solidFill>
                  <a:schemeClr val="bg1"/>
                </a:solidFill>
                <a:latin typeface="Museo 700" panose="02000000000000000000" pitchFamily="2" charset="0"/>
                <a:ea typeface="+mj-ea"/>
                <a:cs typeface="+mj-cs"/>
              </a:defRPr>
            </a:lvl1pPr>
          </a:lstStyle>
          <a:p>
            <a:r>
              <a:rPr lang="en-US" dirty="0" smtClean="0"/>
              <a:t>Lesson 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4923812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61851"/>
            <a:ext cx="8229600" cy="882973"/>
          </a:xfrm>
          <a:prstGeom prst="rect">
            <a:avLst/>
          </a:prstGeom>
        </p:spPr>
        <p:txBody>
          <a:bodyPr/>
          <a:lstStyle>
            <a:lvl1pPr algn="l">
              <a:defRPr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44824"/>
            <a:ext cx="8229600" cy="416592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437064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 rot="10800000">
            <a:off x="-70718" y="639105"/>
            <a:ext cx="9235440" cy="114202"/>
          </a:xfrm>
          <a:prstGeom prst="rect">
            <a:avLst/>
          </a:prstGeom>
          <a:solidFill>
            <a:srgbClr val="0C20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rgbClr val="002060"/>
              </a:solidFill>
              <a:latin typeface="Museo 300" panose="02000000000000000000" pitchFamily="2" charset="0"/>
            </a:endParaRPr>
          </a:p>
        </p:txBody>
      </p:sp>
      <p:sp>
        <p:nvSpPr>
          <p:cNvPr id="12" name="Rectangle 11"/>
          <p:cNvSpPr/>
          <p:nvPr/>
        </p:nvSpPr>
        <p:spPr>
          <a:xfrm rot="10800000">
            <a:off x="-67628" y="-1983"/>
            <a:ext cx="9235440" cy="712879"/>
          </a:xfrm>
          <a:prstGeom prst="rect">
            <a:avLst/>
          </a:prstGeom>
          <a:solidFill>
            <a:srgbClr val="1B70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Museo 300" panose="02000000000000000000" pitchFamily="2" charset="0"/>
            </a:endParaRPr>
          </a:p>
        </p:txBody>
      </p:sp>
      <p:sp>
        <p:nvSpPr>
          <p:cNvPr id="9" name="Text Box 3"/>
          <p:cNvSpPr txBox="1">
            <a:spLocks noChangeArrowheads="1"/>
          </p:cNvSpPr>
          <p:nvPr/>
        </p:nvSpPr>
        <p:spPr bwMode="auto">
          <a:xfrm>
            <a:off x="4564526" y="28487"/>
            <a:ext cx="4487944" cy="6350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GB" sz="1800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Museo 300" panose="02000000000000000000" pitchFamily="2" charset="0"/>
                <a:cs typeface="Arial" pitchFamily="34" charset="0"/>
              </a:rPr>
              <a:t>Introduction to Python</a:t>
            </a:r>
            <a:br>
              <a:rPr kumimoji="0" lang="en-GB" sz="1800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Museo 300" panose="02000000000000000000" pitchFamily="2" charset="0"/>
                <a:cs typeface="Arial" pitchFamily="34" charset="0"/>
              </a:rPr>
            </a:br>
            <a:r>
              <a:rPr kumimoji="0" lang="en-GB" sz="1800" b="0" i="0" u="none" strike="noStrike" cap="none" normalizeH="0" baseline="0" dirty="0" smtClean="0">
                <a:ln>
                  <a:noFill/>
                </a:ln>
                <a:solidFill>
                  <a:srgbClr val="B3CCFF"/>
                </a:solidFill>
                <a:effectLst/>
                <a:latin typeface="Museo 300" panose="02000000000000000000" pitchFamily="2" charset="0"/>
                <a:cs typeface="Arial" pitchFamily="34" charset="0"/>
              </a:rPr>
              <a:t>L3 Selection</a:t>
            </a:r>
            <a:endParaRPr kumimoji="0" lang="en-US" sz="3200" b="0" i="0" u="none" strike="noStrike" cap="none" normalizeH="0" baseline="0" dirty="0" smtClean="0">
              <a:ln>
                <a:noFill/>
              </a:ln>
              <a:solidFill>
                <a:srgbClr val="B3CCFF"/>
              </a:solidFill>
              <a:effectLst/>
              <a:latin typeface="Museo 300" panose="02000000000000000000" pitchFamily="2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9062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algn="l" eaLnBrk="1" hangingPunct="1"/>
            <a:r>
              <a:rPr lang="en-GB" altLang="en-US" b="1" dirty="0" smtClean="0"/>
              <a:t>Learning Objectives</a:t>
            </a:r>
          </a:p>
        </p:txBody>
      </p:sp>
      <p:sp>
        <p:nvSpPr>
          <p:cNvPr id="7171" name="Content Placeholder 1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GB" altLang="en-US" smtClean="0"/>
              <a:t>Use selection statements </a:t>
            </a:r>
            <a:r>
              <a:rPr lang="en-GB" altLang="en-US" b="1" smtClean="0"/>
              <a:t>if</a:t>
            </a:r>
            <a:r>
              <a:rPr lang="en-GB" altLang="en-US" smtClean="0"/>
              <a:t>, </a:t>
            </a:r>
            <a:r>
              <a:rPr lang="en-GB" altLang="en-US" b="1" smtClean="0"/>
              <a:t>else</a:t>
            </a:r>
            <a:r>
              <a:rPr lang="en-GB" altLang="en-US" smtClean="0"/>
              <a:t> and </a:t>
            </a:r>
            <a:r>
              <a:rPr lang="en-GB" altLang="en-US" b="1" smtClean="0"/>
              <a:t>elif</a:t>
            </a:r>
            <a:r>
              <a:rPr lang="en-GB" altLang="en-US" smtClean="0"/>
              <a:t> in a program</a:t>
            </a:r>
          </a:p>
          <a:p>
            <a:pPr eaLnBrk="1" hangingPunct="1"/>
            <a:r>
              <a:rPr lang="en-GB" altLang="en-US" smtClean="0"/>
              <a:t>Learn how to use different comparison operators</a:t>
            </a:r>
          </a:p>
          <a:p>
            <a:pPr eaLnBrk="1" hangingPunct="1"/>
            <a:r>
              <a:rPr lang="en-GB" altLang="en-US" smtClean="0"/>
              <a:t>Use indentation correctly to define a block of code</a:t>
            </a:r>
          </a:p>
        </p:txBody>
      </p:sp>
    </p:spTree>
    <p:extLst>
      <p:ext uri="{BB962C8B-B14F-4D97-AF65-F5344CB8AC3E}">
        <p14:creationId xmlns:p14="http://schemas.microsoft.com/office/powerpoint/2010/main" val="389601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dirty="0" smtClean="0"/>
              <a:t>What </a:t>
            </a:r>
            <a:r>
              <a:rPr lang="en-GB" i="1" dirty="0" smtClean="0"/>
              <a:t>exactly</a:t>
            </a:r>
            <a:r>
              <a:rPr lang="en-GB" dirty="0" smtClean="0"/>
              <a:t> does this program do?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0872" y="1700808"/>
            <a:ext cx="8229600" cy="4165923"/>
          </a:xfrm>
        </p:spPr>
        <p:txBody>
          <a:bodyPr rtlCol="0">
            <a:noAutofit/>
          </a:bodyPr>
          <a:lstStyle/>
          <a:p>
            <a:pPr marL="0" indent="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GB" sz="2600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#</a:t>
            </a:r>
            <a:r>
              <a:rPr lang="en-GB" sz="2600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Password Checker</a:t>
            </a:r>
          </a:p>
          <a:p>
            <a:pPr marL="0" indent="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GB" sz="2600" dirty="0" smtClean="0">
                <a:solidFill>
                  <a:srgbClr val="7030A0"/>
                </a:solidFill>
                <a:latin typeface="Consolas" pitchFamily="49" charset="0"/>
                <a:cs typeface="Consolas" pitchFamily="49" charset="0"/>
              </a:rPr>
              <a:t>print</a:t>
            </a:r>
            <a:r>
              <a:rPr lang="en-GB" sz="2600" dirty="0">
                <a:latin typeface="Consolas" pitchFamily="49" charset="0"/>
                <a:cs typeface="Consolas" pitchFamily="49" charset="0"/>
              </a:rPr>
              <a:t>("Welcome to PGO Security Systems")</a:t>
            </a:r>
          </a:p>
          <a:p>
            <a:pPr marL="0" indent="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GB" sz="2600" dirty="0">
                <a:solidFill>
                  <a:srgbClr val="7030A0"/>
                </a:solidFill>
                <a:latin typeface="Consolas" pitchFamily="49" charset="0"/>
                <a:cs typeface="Consolas" pitchFamily="49" charset="0"/>
              </a:rPr>
              <a:t>print</a:t>
            </a:r>
            <a:r>
              <a:rPr lang="en-GB" sz="2600" dirty="0">
                <a:latin typeface="Consolas" pitchFamily="49" charset="0"/>
                <a:cs typeface="Consolas" pitchFamily="49" charset="0"/>
              </a:rPr>
              <a:t>("*******************************")</a:t>
            </a:r>
          </a:p>
          <a:p>
            <a:pPr marL="0" indent="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GB" sz="2600" dirty="0" smtClean="0">
                <a:latin typeface="Consolas" pitchFamily="49" charset="0"/>
                <a:cs typeface="Consolas" pitchFamily="49" charset="0"/>
              </a:rPr>
              <a:t>password </a:t>
            </a:r>
            <a:r>
              <a:rPr lang="en-GB" sz="2600" dirty="0">
                <a:latin typeface="Consolas" pitchFamily="49" charset="0"/>
                <a:cs typeface="Consolas" pitchFamily="49" charset="0"/>
              </a:rPr>
              <a:t>= </a:t>
            </a:r>
            <a:r>
              <a:rPr lang="en-GB" sz="2600" dirty="0">
                <a:solidFill>
                  <a:srgbClr val="7030A0"/>
                </a:solidFill>
                <a:latin typeface="Consolas" pitchFamily="49" charset="0"/>
                <a:cs typeface="Consolas" pitchFamily="49" charset="0"/>
              </a:rPr>
              <a:t>input</a:t>
            </a:r>
            <a:r>
              <a:rPr lang="en-GB" sz="2600" dirty="0">
                <a:latin typeface="Consolas" pitchFamily="49" charset="0"/>
                <a:cs typeface="Consolas" pitchFamily="49" charset="0"/>
              </a:rPr>
              <a:t>(</a:t>
            </a:r>
            <a:r>
              <a:rPr lang="en-GB" sz="2600" dirty="0">
                <a:solidFill>
                  <a:srgbClr val="00B050"/>
                </a:solidFill>
                <a:latin typeface="Consolas" pitchFamily="49" charset="0"/>
                <a:cs typeface="Consolas" pitchFamily="49" charset="0"/>
              </a:rPr>
              <a:t>"Enter your password:</a:t>
            </a:r>
            <a:r>
              <a:rPr lang="en-GB" sz="2600" dirty="0">
                <a:latin typeface="Consolas" pitchFamily="49" charset="0"/>
                <a:cs typeface="Consolas" pitchFamily="49" charset="0"/>
              </a:rPr>
              <a:t> </a:t>
            </a:r>
            <a:r>
              <a:rPr lang="en-GB" sz="2600" dirty="0">
                <a:solidFill>
                  <a:srgbClr val="00B050"/>
                </a:solidFill>
                <a:latin typeface="Consolas" pitchFamily="49" charset="0"/>
                <a:cs typeface="Consolas" pitchFamily="49" charset="0"/>
              </a:rPr>
              <a:t>"</a:t>
            </a:r>
            <a:r>
              <a:rPr lang="en-GB" sz="2600" dirty="0">
                <a:latin typeface="Consolas" pitchFamily="49" charset="0"/>
                <a:cs typeface="Consolas" pitchFamily="49" charset="0"/>
              </a:rPr>
              <a:t>)</a:t>
            </a:r>
          </a:p>
          <a:p>
            <a:pPr marL="0" indent="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en-GB" sz="1200" dirty="0">
              <a:latin typeface="Consolas" pitchFamily="49" charset="0"/>
              <a:cs typeface="Consolas" pitchFamily="49" charset="0"/>
            </a:endParaRPr>
          </a:p>
          <a:p>
            <a:pPr marL="0" indent="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GB" sz="2600" dirty="0">
                <a:solidFill>
                  <a:schemeClr val="accent6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if </a:t>
            </a:r>
            <a:r>
              <a:rPr lang="en-GB" sz="2600" dirty="0">
                <a:latin typeface="Consolas" pitchFamily="49" charset="0"/>
                <a:cs typeface="Consolas" pitchFamily="49" charset="0"/>
              </a:rPr>
              <a:t>password == </a:t>
            </a:r>
            <a:r>
              <a:rPr lang="en-GB" sz="2600" dirty="0">
                <a:solidFill>
                  <a:srgbClr val="00B050"/>
                </a:solidFill>
                <a:latin typeface="Consolas" pitchFamily="49" charset="0"/>
                <a:cs typeface="Consolas" pitchFamily="49" charset="0"/>
              </a:rPr>
              <a:t>"</a:t>
            </a:r>
            <a:r>
              <a:rPr lang="en-GB" sz="2600" dirty="0" smtClean="0">
                <a:solidFill>
                  <a:srgbClr val="00B050"/>
                </a:solidFill>
                <a:latin typeface="Consolas" pitchFamily="49" charset="0"/>
                <a:cs typeface="Consolas" pitchFamily="49" charset="0"/>
              </a:rPr>
              <a:t>abcd1234</a:t>
            </a:r>
            <a:r>
              <a:rPr lang="en-GB" sz="2600" dirty="0">
                <a:solidFill>
                  <a:srgbClr val="00B050"/>
                </a:solidFill>
                <a:latin typeface="Consolas" pitchFamily="49" charset="0"/>
                <a:cs typeface="Consolas" pitchFamily="49" charset="0"/>
              </a:rPr>
              <a:t>"</a:t>
            </a:r>
            <a:r>
              <a:rPr lang="en-GB" sz="2600" dirty="0">
                <a:latin typeface="Consolas" pitchFamily="49" charset="0"/>
                <a:cs typeface="Consolas" pitchFamily="49" charset="0"/>
              </a:rPr>
              <a:t>:</a:t>
            </a:r>
          </a:p>
          <a:p>
            <a:pPr marL="0" indent="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GB" sz="2600" dirty="0">
                <a:latin typeface="Consolas" pitchFamily="49" charset="0"/>
                <a:cs typeface="Consolas" pitchFamily="49" charset="0"/>
              </a:rPr>
              <a:t>    </a:t>
            </a:r>
            <a:r>
              <a:rPr lang="en-GB" sz="2600" dirty="0">
                <a:solidFill>
                  <a:srgbClr val="7030A0"/>
                </a:solidFill>
                <a:latin typeface="Consolas" pitchFamily="49" charset="0"/>
                <a:cs typeface="Consolas" pitchFamily="49" charset="0"/>
              </a:rPr>
              <a:t>print</a:t>
            </a:r>
            <a:r>
              <a:rPr lang="en-GB" sz="2600" dirty="0">
                <a:latin typeface="Consolas" pitchFamily="49" charset="0"/>
                <a:cs typeface="Consolas" pitchFamily="49" charset="0"/>
              </a:rPr>
              <a:t>(</a:t>
            </a:r>
            <a:r>
              <a:rPr lang="en-GB" sz="2600" dirty="0">
                <a:solidFill>
                  <a:srgbClr val="00B050"/>
                </a:solidFill>
                <a:latin typeface="Consolas" pitchFamily="49" charset="0"/>
                <a:cs typeface="Consolas" pitchFamily="49" charset="0"/>
              </a:rPr>
              <a:t>"Access Granted"</a:t>
            </a:r>
            <a:r>
              <a:rPr lang="en-GB" sz="2600" dirty="0">
                <a:latin typeface="Consolas" pitchFamily="49" charset="0"/>
                <a:cs typeface="Consolas" pitchFamily="49" charset="0"/>
              </a:rPr>
              <a:t>)</a:t>
            </a:r>
          </a:p>
          <a:p>
            <a:pPr marL="0" indent="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GB" sz="2600" dirty="0">
                <a:solidFill>
                  <a:schemeClr val="accent6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else</a:t>
            </a:r>
            <a:r>
              <a:rPr lang="en-GB" sz="2600" dirty="0">
                <a:latin typeface="Consolas" pitchFamily="49" charset="0"/>
                <a:cs typeface="Consolas" pitchFamily="49" charset="0"/>
              </a:rPr>
              <a:t>:</a:t>
            </a:r>
          </a:p>
          <a:p>
            <a:pPr marL="0" indent="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GB" sz="2600" dirty="0">
                <a:latin typeface="Consolas" pitchFamily="49" charset="0"/>
                <a:cs typeface="Consolas" pitchFamily="49" charset="0"/>
              </a:rPr>
              <a:t>    </a:t>
            </a:r>
            <a:r>
              <a:rPr lang="en-GB" sz="2600" dirty="0">
                <a:solidFill>
                  <a:srgbClr val="7030A0"/>
                </a:solidFill>
                <a:latin typeface="Consolas" pitchFamily="49" charset="0"/>
                <a:cs typeface="Consolas" pitchFamily="49" charset="0"/>
              </a:rPr>
              <a:t>print</a:t>
            </a:r>
            <a:r>
              <a:rPr lang="en-GB" sz="2600" dirty="0">
                <a:latin typeface="Consolas" pitchFamily="49" charset="0"/>
                <a:cs typeface="Consolas" pitchFamily="49" charset="0"/>
              </a:rPr>
              <a:t>(</a:t>
            </a:r>
            <a:r>
              <a:rPr lang="en-GB" sz="2600" dirty="0">
                <a:solidFill>
                  <a:srgbClr val="00B050"/>
                </a:solidFill>
                <a:latin typeface="Consolas" pitchFamily="49" charset="0"/>
                <a:cs typeface="Consolas" pitchFamily="49" charset="0"/>
              </a:rPr>
              <a:t>"Access Denied</a:t>
            </a:r>
            <a:r>
              <a:rPr lang="en-GB" sz="2600" dirty="0" smtClean="0">
                <a:solidFill>
                  <a:srgbClr val="00B050"/>
                </a:solidFill>
                <a:latin typeface="Consolas" pitchFamily="49" charset="0"/>
                <a:cs typeface="Consolas" pitchFamily="49" charset="0"/>
              </a:rPr>
              <a:t>"</a:t>
            </a:r>
            <a:r>
              <a:rPr lang="en-GB" sz="2600" dirty="0" smtClean="0">
                <a:latin typeface="Consolas" pitchFamily="49" charset="0"/>
                <a:cs typeface="Consolas" pitchFamily="49" charset="0"/>
              </a:rPr>
              <a:t>)</a:t>
            </a:r>
          </a:p>
          <a:p>
            <a:pPr marL="0" indent="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en-GB" sz="1200" dirty="0">
              <a:latin typeface="Consolas" pitchFamily="49" charset="0"/>
              <a:cs typeface="Consolas" pitchFamily="49" charset="0"/>
            </a:endParaRPr>
          </a:p>
          <a:p>
            <a:pPr marL="0" indent="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GB" sz="2600" dirty="0" smtClean="0">
                <a:solidFill>
                  <a:srgbClr val="7030A0"/>
                </a:solidFill>
                <a:latin typeface="Consolas" pitchFamily="49" charset="0"/>
                <a:cs typeface="Consolas" pitchFamily="49" charset="0"/>
              </a:rPr>
              <a:t>print</a:t>
            </a:r>
            <a:r>
              <a:rPr lang="en-GB" sz="2600" dirty="0">
                <a:latin typeface="Consolas" pitchFamily="49" charset="0"/>
                <a:cs typeface="Consolas" pitchFamily="49" charset="0"/>
              </a:rPr>
              <a:t>(</a:t>
            </a:r>
            <a:r>
              <a:rPr lang="en-GB" sz="2600" dirty="0">
                <a:solidFill>
                  <a:srgbClr val="00B050"/>
                </a:solidFill>
                <a:latin typeface="Consolas" pitchFamily="49" charset="0"/>
                <a:cs typeface="Consolas" pitchFamily="49" charset="0"/>
              </a:rPr>
              <a:t>"Press ENTER to exit the program"</a:t>
            </a:r>
            <a:r>
              <a:rPr lang="en-GB" sz="2600" dirty="0">
                <a:latin typeface="Consolas" pitchFamily="49" charset="0"/>
                <a:cs typeface="Consolas" pitchFamily="49" charset="0"/>
              </a:rPr>
              <a:t>)</a:t>
            </a:r>
          </a:p>
          <a:p>
            <a:pPr marL="0" indent="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en-GB" sz="2600" dirty="0">
              <a:latin typeface="Consolas" pitchFamily="49" charset="0"/>
              <a:cs typeface="Consolas" pitchFamily="49" charset="0"/>
            </a:endParaRPr>
          </a:p>
          <a:p>
            <a:pPr eaLnBrk="1" fontAlgn="auto" hangingPunct="1">
              <a:spcAft>
                <a:spcPts val="0"/>
              </a:spcAft>
              <a:defRPr/>
            </a:pPr>
            <a:endParaRPr lang="en-GB" sz="2600" dirty="0"/>
          </a:p>
        </p:txBody>
      </p:sp>
    </p:spTree>
    <p:extLst>
      <p:ext uri="{BB962C8B-B14F-4D97-AF65-F5344CB8AC3E}">
        <p14:creationId xmlns:p14="http://schemas.microsoft.com/office/powerpoint/2010/main" val="3989596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smtClean="0"/>
              <a:t>Indentation!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6896" y="3284984"/>
            <a:ext cx="7509520" cy="3013795"/>
          </a:xfrm>
        </p:spPr>
        <p:txBody>
          <a:bodyPr rtlCol="0">
            <a:noAutofit/>
          </a:bodyPr>
          <a:lstStyle/>
          <a:p>
            <a:pPr marL="0" indent="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GB" sz="2600" dirty="0" smtClean="0">
                <a:solidFill>
                  <a:schemeClr val="accent6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if </a:t>
            </a:r>
            <a:r>
              <a:rPr lang="en-GB" sz="2600" dirty="0">
                <a:latin typeface="Consolas" pitchFamily="49" charset="0"/>
                <a:cs typeface="Consolas" pitchFamily="49" charset="0"/>
              </a:rPr>
              <a:t>password == </a:t>
            </a:r>
            <a:r>
              <a:rPr lang="en-GB" sz="2600" dirty="0">
                <a:solidFill>
                  <a:srgbClr val="00B050"/>
                </a:solidFill>
                <a:latin typeface="Consolas" pitchFamily="49" charset="0"/>
                <a:cs typeface="Consolas" pitchFamily="49" charset="0"/>
              </a:rPr>
              <a:t>"</a:t>
            </a:r>
            <a:r>
              <a:rPr lang="en-GB" sz="2600" dirty="0" smtClean="0">
                <a:solidFill>
                  <a:srgbClr val="00B050"/>
                </a:solidFill>
                <a:latin typeface="Consolas" pitchFamily="49" charset="0"/>
                <a:cs typeface="Consolas" pitchFamily="49" charset="0"/>
              </a:rPr>
              <a:t>abcd1234</a:t>
            </a:r>
            <a:r>
              <a:rPr lang="en-GB" sz="2600" dirty="0">
                <a:solidFill>
                  <a:srgbClr val="00B050"/>
                </a:solidFill>
                <a:latin typeface="Consolas" pitchFamily="49" charset="0"/>
                <a:cs typeface="Consolas" pitchFamily="49" charset="0"/>
              </a:rPr>
              <a:t>"</a:t>
            </a:r>
            <a:r>
              <a:rPr lang="en-GB" sz="2600" dirty="0">
                <a:latin typeface="Consolas" pitchFamily="49" charset="0"/>
                <a:cs typeface="Consolas" pitchFamily="49" charset="0"/>
              </a:rPr>
              <a:t>:</a:t>
            </a:r>
          </a:p>
          <a:p>
            <a:pPr marL="0" indent="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GB" sz="2600" dirty="0">
                <a:latin typeface="Consolas" pitchFamily="49" charset="0"/>
                <a:cs typeface="Consolas" pitchFamily="49" charset="0"/>
              </a:rPr>
              <a:t>    </a:t>
            </a:r>
            <a:r>
              <a:rPr lang="en-GB" sz="2600" dirty="0">
                <a:solidFill>
                  <a:srgbClr val="7030A0"/>
                </a:solidFill>
                <a:latin typeface="Consolas" pitchFamily="49" charset="0"/>
                <a:cs typeface="Consolas" pitchFamily="49" charset="0"/>
              </a:rPr>
              <a:t>print</a:t>
            </a:r>
            <a:r>
              <a:rPr lang="en-GB" sz="2600" dirty="0">
                <a:latin typeface="Consolas" pitchFamily="49" charset="0"/>
                <a:cs typeface="Consolas" pitchFamily="49" charset="0"/>
              </a:rPr>
              <a:t>(</a:t>
            </a:r>
            <a:r>
              <a:rPr lang="en-GB" sz="2600" dirty="0">
                <a:solidFill>
                  <a:srgbClr val="00B050"/>
                </a:solidFill>
                <a:latin typeface="Consolas" pitchFamily="49" charset="0"/>
                <a:cs typeface="Consolas" pitchFamily="49" charset="0"/>
              </a:rPr>
              <a:t>"Access Granted"</a:t>
            </a:r>
            <a:r>
              <a:rPr lang="en-GB" sz="2600" dirty="0">
                <a:latin typeface="Consolas" pitchFamily="49" charset="0"/>
                <a:cs typeface="Consolas" pitchFamily="49" charset="0"/>
              </a:rPr>
              <a:t>)</a:t>
            </a:r>
          </a:p>
          <a:p>
            <a:pPr marL="0" indent="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GB" sz="2600" dirty="0">
                <a:solidFill>
                  <a:schemeClr val="accent6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else</a:t>
            </a:r>
            <a:r>
              <a:rPr lang="en-GB" sz="2600" dirty="0">
                <a:latin typeface="Consolas" pitchFamily="49" charset="0"/>
                <a:cs typeface="Consolas" pitchFamily="49" charset="0"/>
              </a:rPr>
              <a:t>:</a:t>
            </a:r>
          </a:p>
          <a:p>
            <a:pPr marL="0" indent="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GB" sz="2600" dirty="0">
                <a:latin typeface="Consolas" pitchFamily="49" charset="0"/>
                <a:cs typeface="Consolas" pitchFamily="49" charset="0"/>
              </a:rPr>
              <a:t>    </a:t>
            </a:r>
            <a:r>
              <a:rPr lang="en-GB" sz="2600" dirty="0">
                <a:solidFill>
                  <a:srgbClr val="7030A0"/>
                </a:solidFill>
                <a:latin typeface="Consolas" pitchFamily="49" charset="0"/>
                <a:cs typeface="Consolas" pitchFamily="49" charset="0"/>
              </a:rPr>
              <a:t>print</a:t>
            </a:r>
            <a:r>
              <a:rPr lang="en-GB" sz="2600" dirty="0">
                <a:latin typeface="Consolas" pitchFamily="49" charset="0"/>
                <a:cs typeface="Consolas" pitchFamily="49" charset="0"/>
              </a:rPr>
              <a:t>(</a:t>
            </a:r>
            <a:r>
              <a:rPr lang="en-GB" sz="2600" dirty="0">
                <a:solidFill>
                  <a:srgbClr val="00B050"/>
                </a:solidFill>
                <a:latin typeface="Consolas" pitchFamily="49" charset="0"/>
                <a:cs typeface="Consolas" pitchFamily="49" charset="0"/>
              </a:rPr>
              <a:t>"Access Denied</a:t>
            </a:r>
            <a:r>
              <a:rPr lang="en-GB" sz="2600" dirty="0" smtClean="0">
                <a:solidFill>
                  <a:srgbClr val="00B050"/>
                </a:solidFill>
                <a:latin typeface="Consolas" pitchFamily="49" charset="0"/>
                <a:cs typeface="Consolas" pitchFamily="49" charset="0"/>
              </a:rPr>
              <a:t>"</a:t>
            </a:r>
            <a:r>
              <a:rPr lang="en-GB" sz="2600" dirty="0" smtClean="0">
                <a:latin typeface="Consolas" pitchFamily="49" charset="0"/>
                <a:cs typeface="Consolas" pitchFamily="49" charset="0"/>
              </a:rPr>
              <a:t>)</a:t>
            </a:r>
          </a:p>
          <a:p>
            <a:pPr marL="0" indent="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en-GB" sz="2600" dirty="0" smtClean="0">
              <a:solidFill>
                <a:srgbClr val="7030A0"/>
              </a:solidFill>
              <a:latin typeface="Consolas" pitchFamily="49" charset="0"/>
              <a:cs typeface="Consolas" pitchFamily="49" charset="0"/>
            </a:endParaRPr>
          </a:p>
          <a:p>
            <a:pPr marL="0" indent="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GB" sz="2600" dirty="0" smtClean="0">
                <a:solidFill>
                  <a:srgbClr val="7030A0"/>
                </a:solidFill>
                <a:latin typeface="Consolas" pitchFamily="49" charset="0"/>
                <a:cs typeface="Consolas" pitchFamily="49" charset="0"/>
              </a:rPr>
              <a:t>print</a:t>
            </a:r>
            <a:r>
              <a:rPr lang="en-GB" sz="2600" dirty="0">
                <a:latin typeface="Consolas" pitchFamily="49" charset="0"/>
                <a:cs typeface="Consolas" pitchFamily="49" charset="0"/>
              </a:rPr>
              <a:t>(</a:t>
            </a:r>
            <a:r>
              <a:rPr lang="en-GB" sz="2600" dirty="0">
                <a:solidFill>
                  <a:srgbClr val="00B050"/>
                </a:solidFill>
                <a:latin typeface="Consolas" pitchFamily="49" charset="0"/>
                <a:cs typeface="Consolas" pitchFamily="49" charset="0"/>
              </a:rPr>
              <a:t>"Press ENTER to exit the program"</a:t>
            </a:r>
            <a:r>
              <a:rPr lang="en-GB" sz="2600" dirty="0">
                <a:latin typeface="Consolas" pitchFamily="49" charset="0"/>
                <a:cs typeface="Consolas" pitchFamily="49" charset="0"/>
              </a:rPr>
              <a:t>)</a:t>
            </a:r>
          </a:p>
          <a:p>
            <a:pPr marL="0" indent="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en-GB" sz="2600" dirty="0">
              <a:latin typeface="Consolas" pitchFamily="49" charset="0"/>
              <a:cs typeface="Consolas" pitchFamily="49" charset="0"/>
            </a:endParaRPr>
          </a:p>
          <a:p>
            <a:pPr eaLnBrk="1" fontAlgn="auto" hangingPunct="1">
              <a:spcAft>
                <a:spcPts val="0"/>
              </a:spcAft>
              <a:defRPr/>
            </a:pPr>
            <a:endParaRPr lang="en-GB" sz="2600" dirty="0"/>
          </a:p>
        </p:txBody>
      </p:sp>
      <p:sp>
        <p:nvSpPr>
          <p:cNvPr id="9220" name="TextBox 3"/>
          <p:cNvSpPr txBox="1">
            <a:spLocks noChangeArrowheads="1"/>
          </p:cNvSpPr>
          <p:nvPr/>
        </p:nvSpPr>
        <p:spPr bwMode="auto">
          <a:xfrm>
            <a:off x="420688" y="1796802"/>
            <a:ext cx="7666037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457200" indent="-457200" eaLnBrk="0" hangingPunct="0"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GB" altLang="en-US" sz="2400" dirty="0"/>
              <a:t>Python requires indentation as part of the syntax</a:t>
            </a:r>
          </a:p>
          <a:p>
            <a:pPr eaLnBrk="1" hangingPunct="1">
              <a:spcBef>
                <a:spcPct val="0"/>
              </a:spcBef>
            </a:pPr>
            <a:r>
              <a:rPr lang="en-GB" altLang="en-US" sz="2400" dirty="0"/>
              <a:t>Indentation signifies the start and end of a block of code</a:t>
            </a:r>
          </a:p>
          <a:p>
            <a:pPr eaLnBrk="1" hangingPunct="1">
              <a:spcBef>
                <a:spcPct val="0"/>
              </a:spcBef>
            </a:pPr>
            <a:r>
              <a:rPr lang="en-GB" altLang="en-US" sz="2400" dirty="0"/>
              <a:t>Programs will not run without correct indentation</a:t>
            </a:r>
          </a:p>
        </p:txBody>
      </p:sp>
      <p:grpSp>
        <p:nvGrpSpPr>
          <p:cNvPr id="9221" name="Group 21"/>
          <p:cNvGrpSpPr>
            <a:grpSpLocks/>
          </p:cNvGrpSpPr>
          <p:nvPr/>
        </p:nvGrpSpPr>
        <p:grpSpPr bwMode="auto">
          <a:xfrm>
            <a:off x="724740" y="3861048"/>
            <a:ext cx="699671" cy="398463"/>
            <a:chOff x="420868" y="4071806"/>
            <a:chExt cx="766756" cy="398677"/>
          </a:xfrm>
        </p:grpSpPr>
        <p:cxnSp>
          <p:nvCxnSpPr>
            <p:cNvPr id="16" name="Straight Connector 15"/>
            <p:cNvCxnSpPr/>
            <p:nvPr/>
          </p:nvCxnSpPr>
          <p:spPr>
            <a:xfrm>
              <a:off x="1187624" y="4071806"/>
              <a:ext cx="0" cy="398677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/>
            <p:nvPr/>
          </p:nvCxnSpPr>
          <p:spPr>
            <a:xfrm>
              <a:off x="420868" y="4259232"/>
              <a:ext cx="766756" cy="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222" name="Group 22"/>
          <p:cNvGrpSpPr>
            <a:grpSpLocks/>
          </p:cNvGrpSpPr>
          <p:nvPr/>
        </p:nvGrpSpPr>
        <p:grpSpPr bwMode="auto">
          <a:xfrm>
            <a:off x="724740" y="4813548"/>
            <a:ext cx="699671" cy="398463"/>
            <a:chOff x="420868" y="4071806"/>
            <a:chExt cx="766756" cy="398677"/>
          </a:xfrm>
        </p:grpSpPr>
        <p:cxnSp>
          <p:nvCxnSpPr>
            <p:cNvPr id="24" name="Straight Connector 23"/>
            <p:cNvCxnSpPr/>
            <p:nvPr/>
          </p:nvCxnSpPr>
          <p:spPr>
            <a:xfrm>
              <a:off x="1187624" y="4071806"/>
              <a:ext cx="0" cy="398677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/>
            <p:nvPr/>
          </p:nvCxnSpPr>
          <p:spPr>
            <a:xfrm>
              <a:off x="420868" y="4259232"/>
              <a:ext cx="766756" cy="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223" name="Group 25"/>
          <p:cNvGrpSpPr>
            <a:grpSpLocks/>
          </p:cNvGrpSpPr>
          <p:nvPr/>
        </p:nvGrpSpPr>
        <p:grpSpPr bwMode="auto">
          <a:xfrm>
            <a:off x="3635375" y="1144588"/>
            <a:ext cx="766763" cy="400050"/>
            <a:chOff x="420868" y="4071806"/>
            <a:chExt cx="766756" cy="398677"/>
          </a:xfrm>
        </p:grpSpPr>
        <p:cxnSp>
          <p:nvCxnSpPr>
            <p:cNvPr id="27" name="Straight Connector 26"/>
            <p:cNvCxnSpPr/>
            <p:nvPr/>
          </p:nvCxnSpPr>
          <p:spPr>
            <a:xfrm>
              <a:off x="1187624" y="4071806"/>
              <a:ext cx="0" cy="398677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/>
            <p:nvPr/>
          </p:nvCxnSpPr>
          <p:spPr>
            <a:xfrm>
              <a:off x="420868" y="4260070"/>
              <a:ext cx="766756" cy="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32893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 smtClean="0"/>
              <a:t>Using an IF Statement</a:t>
            </a:r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dirty="0" smtClean="0"/>
              <a:t>An </a:t>
            </a:r>
            <a:r>
              <a:rPr lang="en-GB" altLang="en-US" b="1" dirty="0" smtClean="0"/>
              <a:t>IF</a:t>
            </a:r>
            <a:r>
              <a:rPr lang="en-GB" altLang="en-US" dirty="0" smtClean="0"/>
              <a:t> Statement uses </a:t>
            </a:r>
            <a:r>
              <a:rPr lang="en-GB" altLang="en-US" b="1" dirty="0" smtClean="0"/>
              <a:t>Selection</a:t>
            </a:r>
          </a:p>
          <a:p>
            <a:pPr eaLnBrk="1" hangingPunct="1"/>
            <a:r>
              <a:rPr lang="en-GB" altLang="en-US" b="1" dirty="0" smtClean="0"/>
              <a:t>IF</a:t>
            </a:r>
            <a:r>
              <a:rPr lang="en-GB" altLang="en-US" dirty="0" smtClean="0"/>
              <a:t> forces a decision</a:t>
            </a:r>
          </a:p>
          <a:p>
            <a:pPr eaLnBrk="1" hangingPunct="1"/>
            <a:r>
              <a:rPr lang="en-GB" altLang="en-US" b="1" dirty="0" smtClean="0"/>
              <a:t>If </a:t>
            </a:r>
            <a:r>
              <a:rPr lang="en-GB" altLang="en-US" i="1" dirty="0" smtClean="0"/>
              <a:t>condition</a:t>
            </a:r>
            <a:r>
              <a:rPr lang="en-GB" altLang="en-US" b="1" dirty="0" smtClean="0"/>
              <a:t> Then </a:t>
            </a:r>
            <a:r>
              <a:rPr lang="en-GB" altLang="en-US" i="1" dirty="0" smtClean="0"/>
              <a:t>do this </a:t>
            </a:r>
            <a:r>
              <a:rPr lang="en-GB" altLang="en-US" b="1" dirty="0" smtClean="0"/>
              <a:t>Else </a:t>
            </a:r>
            <a:r>
              <a:rPr lang="en-GB" altLang="en-US" i="1" dirty="0" smtClean="0"/>
              <a:t>do that</a:t>
            </a:r>
          </a:p>
          <a:p>
            <a:pPr marL="457200" lvl="1" indent="0" eaLnBrk="1" hangingPunct="1">
              <a:buFont typeface="Arial" pitchFamily="34" charset="0"/>
              <a:buNone/>
            </a:pPr>
            <a:r>
              <a:rPr lang="en-GB" altLang="en-US" sz="3200" b="1" dirty="0" smtClean="0">
                <a:solidFill>
                  <a:srgbClr val="002060"/>
                </a:solidFill>
              </a:rPr>
              <a:t>	</a:t>
            </a:r>
            <a:r>
              <a:rPr lang="en-GB" altLang="en-US" sz="4000" b="1" dirty="0" smtClean="0">
                <a:solidFill>
                  <a:srgbClr val="1B70ED"/>
                </a:solidFill>
              </a:rPr>
              <a:t>If</a:t>
            </a:r>
            <a:r>
              <a:rPr lang="en-GB" altLang="en-US" sz="4000" dirty="0" smtClean="0">
                <a:solidFill>
                  <a:srgbClr val="0070C0"/>
                </a:solidFill>
              </a:rPr>
              <a:t> </a:t>
            </a:r>
            <a:r>
              <a:rPr lang="en-GB" altLang="en-US" sz="4000" i="1" dirty="0" smtClean="0">
                <a:solidFill>
                  <a:srgbClr val="0070C0"/>
                </a:solidFill>
              </a:rPr>
              <a:t>nobody saw me do it </a:t>
            </a:r>
            <a:r>
              <a:rPr lang="en-GB" altLang="en-US" sz="4000" b="1" dirty="0" smtClean="0">
                <a:solidFill>
                  <a:srgbClr val="1B70ED"/>
                </a:solidFill>
              </a:rPr>
              <a:t>Then</a:t>
            </a:r>
            <a:r>
              <a:rPr lang="en-GB" altLang="en-US" sz="4000" dirty="0" smtClean="0">
                <a:solidFill>
                  <a:srgbClr val="0070C0"/>
                </a:solidFill>
              </a:rPr>
              <a:t> </a:t>
            </a:r>
          </a:p>
          <a:p>
            <a:pPr marL="457200" lvl="1" indent="0" eaLnBrk="1" hangingPunct="1">
              <a:buFont typeface="Arial" pitchFamily="34" charset="0"/>
              <a:buNone/>
            </a:pPr>
            <a:r>
              <a:rPr lang="en-GB" altLang="en-US" sz="3600" dirty="0" smtClean="0">
                <a:solidFill>
                  <a:srgbClr val="0070C0"/>
                </a:solidFill>
              </a:rPr>
              <a:t>		</a:t>
            </a:r>
            <a:r>
              <a:rPr lang="en-GB" altLang="en-US" sz="4000" i="1" dirty="0" smtClean="0">
                <a:solidFill>
                  <a:srgbClr val="0070C0"/>
                </a:solidFill>
              </a:rPr>
              <a:t>might get away with it</a:t>
            </a:r>
          </a:p>
          <a:p>
            <a:pPr marL="457200" lvl="1" indent="0" eaLnBrk="1" hangingPunct="1">
              <a:buFont typeface="Arial" pitchFamily="34" charset="0"/>
              <a:buNone/>
            </a:pPr>
            <a:r>
              <a:rPr lang="en-GB" altLang="en-US" sz="4000" b="1" dirty="0" smtClean="0">
                <a:solidFill>
                  <a:srgbClr val="0070C0"/>
                </a:solidFill>
              </a:rPr>
              <a:t>	</a:t>
            </a:r>
            <a:r>
              <a:rPr lang="en-GB" altLang="en-US" sz="4000" b="1" dirty="0" smtClean="0">
                <a:solidFill>
                  <a:srgbClr val="1B70ED"/>
                </a:solidFill>
              </a:rPr>
              <a:t>Else</a:t>
            </a:r>
          </a:p>
          <a:p>
            <a:pPr marL="457200" lvl="1" indent="0" eaLnBrk="1" hangingPunct="1">
              <a:buFont typeface="Arial" pitchFamily="34" charset="0"/>
              <a:buNone/>
            </a:pPr>
            <a:r>
              <a:rPr lang="en-GB" altLang="en-US" sz="4000" dirty="0" smtClean="0">
                <a:solidFill>
                  <a:srgbClr val="0070C0"/>
                </a:solidFill>
              </a:rPr>
              <a:t>		</a:t>
            </a:r>
            <a:r>
              <a:rPr lang="en-GB" altLang="en-US" sz="4000" i="1" dirty="0" smtClean="0">
                <a:solidFill>
                  <a:srgbClr val="0070C0"/>
                </a:solidFill>
              </a:rPr>
              <a:t>busted</a:t>
            </a:r>
          </a:p>
          <a:p>
            <a:pPr marL="457200" lvl="1" indent="0" eaLnBrk="1" hangingPunct="1">
              <a:buFont typeface="Arial" pitchFamily="34" charset="0"/>
              <a:buNone/>
            </a:pPr>
            <a:endParaRPr lang="en-GB" altLang="en-US" sz="3200" i="1" dirty="0" smtClean="0"/>
          </a:p>
        </p:txBody>
      </p:sp>
    </p:spTree>
    <p:extLst>
      <p:ext uri="{BB962C8B-B14F-4D97-AF65-F5344CB8AC3E}">
        <p14:creationId xmlns:p14="http://schemas.microsoft.com/office/powerpoint/2010/main" val="179210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smtClean="0"/>
              <a:t>IF Syntax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marL="360363" indent="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GB" dirty="0" smtClean="0">
                <a:latin typeface="Consolas" pitchFamily="49" charset="0"/>
                <a:cs typeface="Consolas" pitchFamily="49" charset="0"/>
              </a:rPr>
              <a:t>age = </a:t>
            </a:r>
            <a:r>
              <a:rPr lang="en-GB" dirty="0" err="1" smtClean="0">
                <a:solidFill>
                  <a:srgbClr val="7030A0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GB" dirty="0" smtClean="0">
                <a:latin typeface="Consolas" pitchFamily="49" charset="0"/>
                <a:cs typeface="Consolas" pitchFamily="49" charset="0"/>
              </a:rPr>
              <a:t>(</a:t>
            </a:r>
            <a:r>
              <a:rPr lang="en-GB" dirty="0" smtClean="0">
                <a:solidFill>
                  <a:srgbClr val="7030A0"/>
                </a:solidFill>
                <a:latin typeface="Consolas" pitchFamily="49" charset="0"/>
                <a:cs typeface="Consolas" pitchFamily="49" charset="0"/>
              </a:rPr>
              <a:t>input</a:t>
            </a:r>
            <a:r>
              <a:rPr lang="en-GB" dirty="0" smtClean="0">
                <a:latin typeface="Consolas" pitchFamily="49" charset="0"/>
                <a:cs typeface="Consolas" pitchFamily="49" charset="0"/>
              </a:rPr>
              <a:t>(</a:t>
            </a:r>
            <a:r>
              <a:rPr lang="en-GB" dirty="0" smtClean="0">
                <a:solidFill>
                  <a:srgbClr val="00B050"/>
                </a:solidFill>
                <a:latin typeface="Consolas" pitchFamily="49" charset="0"/>
                <a:cs typeface="Consolas" pitchFamily="49" charset="0"/>
              </a:rPr>
              <a:t>"Enter age: "</a:t>
            </a:r>
            <a:r>
              <a:rPr lang="en-GB" dirty="0" smtClean="0">
                <a:latin typeface="Consolas" pitchFamily="49" charset="0"/>
                <a:cs typeface="Consolas" pitchFamily="49" charset="0"/>
              </a:rPr>
              <a:t>))</a:t>
            </a:r>
          </a:p>
          <a:p>
            <a:pPr marL="360363" indent="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GB" dirty="0" smtClean="0">
                <a:solidFill>
                  <a:schemeClr val="accent6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if </a:t>
            </a:r>
            <a:r>
              <a:rPr lang="en-GB" dirty="0">
                <a:latin typeface="Consolas" pitchFamily="49" charset="0"/>
                <a:cs typeface="Consolas" pitchFamily="49" charset="0"/>
              </a:rPr>
              <a:t>age &gt;= 18:</a:t>
            </a:r>
          </a:p>
          <a:p>
            <a:pPr marL="360363" indent="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GB" dirty="0">
                <a:solidFill>
                  <a:schemeClr val="accent6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   </a:t>
            </a:r>
            <a:r>
              <a:rPr lang="en-GB" dirty="0" smtClean="0">
                <a:solidFill>
                  <a:srgbClr val="7030A0"/>
                </a:solidFill>
                <a:latin typeface="Consolas" pitchFamily="49" charset="0"/>
                <a:cs typeface="Consolas" pitchFamily="49" charset="0"/>
              </a:rPr>
              <a:t>print </a:t>
            </a:r>
            <a:r>
              <a:rPr lang="en-GB" dirty="0">
                <a:latin typeface="Consolas" pitchFamily="49" charset="0"/>
                <a:cs typeface="Consolas" pitchFamily="49" charset="0"/>
              </a:rPr>
              <a:t>(</a:t>
            </a:r>
            <a:r>
              <a:rPr lang="en-GB" dirty="0">
                <a:solidFill>
                  <a:srgbClr val="00B050"/>
                </a:solidFill>
                <a:latin typeface="Consolas" pitchFamily="49" charset="0"/>
                <a:cs typeface="Consolas" pitchFamily="49" charset="0"/>
              </a:rPr>
              <a:t>"Adult"</a:t>
            </a:r>
            <a:r>
              <a:rPr lang="en-GB" dirty="0">
                <a:latin typeface="Consolas" pitchFamily="49" charset="0"/>
                <a:cs typeface="Consolas" pitchFamily="49" charset="0"/>
              </a:rPr>
              <a:t>)</a:t>
            </a:r>
          </a:p>
          <a:p>
            <a:pPr marL="360363" indent="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GB" dirty="0" smtClean="0">
                <a:solidFill>
                  <a:schemeClr val="accent6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else</a:t>
            </a:r>
            <a:r>
              <a:rPr lang="en-GB" dirty="0">
                <a:latin typeface="Consolas" pitchFamily="49" charset="0"/>
                <a:cs typeface="Consolas" pitchFamily="49" charset="0"/>
              </a:rPr>
              <a:t>:</a:t>
            </a:r>
          </a:p>
          <a:p>
            <a:pPr marL="360363" indent="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GB">
                <a:solidFill>
                  <a:schemeClr val="accent6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   </a:t>
            </a:r>
            <a:r>
              <a:rPr lang="en-GB" smtClean="0">
                <a:solidFill>
                  <a:srgbClr val="7030A0"/>
                </a:solidFill>
                <a:latin typeface="Consolas" pitchFamily="49" charset="0"/>
                <a:cs typeface="Consolas" pitchFamily="49" charset="0"/>
              </a:rPr>
              <a:t>print</a:t>
            </a:r>
            <a:r>
              <a:rPr lang="en-GB" smtClean="0">
                <a:latin typeface="Consolas" pitchFamily="49" charset="0"/>
                <a:cs typeface="Consolas" pitchFamily="49" charset="0"/>
              </a:rPr>
              <a:t> </a:t>
            </a:r>
            <a:r>
              <a:rPr lang="en-GB" dirty="0" smtClean="0">
                <a:latin typeface="Consolas" pitchFamily="49" charset="0"/>
                <a:cs typeface="Consolas" pitchFamily="49" charset="0"/>
              </a:rPr>
              <a:t>(</a:t>
            </a:r>
            <a:r>
              <a:rPr lang="en-GB" dirty="0">
                <a:solidFill>
                  <a:srgbClr val="00B050"/>
                </a:solidFill>
                <a:latin typeface="Consolas" pitchFamily="49" charset="0"/>
                <a:cs typeface="Consolas" pitchFamily="49" charset="0"/>
              </a:rPr>
              <a:t>"Child"</a:t>
            </a:r>
            <a:r>
              <a:rPr lang="en-GB" dirty="0">
                <a:latin typeface="Consolas" pitchFamily="49" charset="0"/>
                <a:cs typeface="Consolas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454894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algn="l" eaLnBrk="1" hangingPunct="1"/>
            <a:r>
              <a:rPr lang="en-GB" altLang="en-US" b="1" dirty="0" smtClean="0"/>
              <a:t>Comparison operators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8336682"/>
              </p:ext>
            </p:extLst>
          </p:nvPr>
        </p:nvGraphicFramePr>
        <p:xfrm>
          <a:off x="755650" y="2052638"/>
          <a:ext cx="7561264" cy="38242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84265"/>
                <a:gridCol w="2592433"/>
                <a:gridCol w="1494250"/>
                <a:gridCol w="1890316"/>
              </a:tblGrid>
              <a:tr h="620720">
                <a:tc>
                  <a:txBody>
                    <a:bodyPr/>
                    <a:lstStyle/>
                    <a:p>
                      <a:pPr algn="ctr"/>
                      <a:r>
                        <a:rPr lang="en-GB" altLang="en-US" sz="2400" b="1" dirty="0" smtClean="0">
                          <a:solidFill>
                            <a:schemeClr val="bg1"/>
                          </a:solidFill>
                        </a:rPr>
                        <a:t>Operator</a:t>
                      </a:r>
                      <a:endParaRPr lang="en-GB" sz="2400" b="1" dirty="0">
                        <a:solidFill>
                          <a:schemeClr val="bg1"/>
                        </a:solidFill>
                      </a:endParaRPr>
                    </a:p>
                  </a:txBody>
                  <a:tcPr marL="91445" marR="91445" marT="45717" marB="45717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altLang="en-US" sz="2400" b="1" dirty="0" smtClean="0">
                          <a:solidFill>
                            <a:schemeClr val="bg1"/>
                          </a:solidFill>
                        </a:rPr>
                        <a:t>Meaning</a:t>
                      </a:r>
                      <a:endParaRPr lang="en-GB" sz="2400" b="1" dirty="0">
                        <a:solidFill>
                          <a:schemeClr val="bg1"/>
                        </a:solidFill>
                      </a:endParaRPr>
                    </a:p>
                  </a:txBody>
                  <a:tcPr marL="91445" marR="91445" marT="45717" marB="45717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altLang="en-US" sz="2400" b="1" dirty="0" smtClean="0">
                          <a:solidFill>
                            <a:schemeClr val="bg1"/>
                          </a:solidFill>
                        </a:rPr>
                        <a:t>Example</a:t>
                      </a:r>
                      <a:endParaRPr lang="en-GB" sz="2400" b="1" dirty="0">
                        <a:solidFill>
                          <a:schemeClr val="bg1"/>
                        </a:solidFill>
                      </a:endParaRPr>
                    </a:p>
                  </a:txBody>
                  <a:tcPr marL="91445" marR="91445" marT="45717" marB="45717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en-US" sz="2400" b="1" dirty="0" smtClean="0">
                          <a:solidFill>
                            <a:schemeClr val="bg1"/>
                          </a:solidFill>
                        </a:rPr>
                        <a:t>Evaluates to</a:t>
                      </a:r>
                    </a:p>
                  </a:txBody>
                  <a:tcPr marL="91445" marR="91445" marT="45717" marB="45717" anchor="ctr">
                    <a:solidFill>
                      <a:srgbClr val="0070C0"/>
                    </a:solidFill>
                  </a:tcPr>
                </a:tc>
              </a:tr>
              <a:tr h="517520">
                <a:tc>
                  <a:txBody>
                    <a:bodyPr/>
                    <a:lstStyle/>
                    <a:p>
                      <a:pPr algn="ctr"/>
                      <a:r>
                        <a:rPr lang="en-GB" altLang="en-US" sz="1800" dirty="0" smtClean="0"/>
                        <a:t>==</a:t>
                      </a:r>
                      <a:endParaRPr lang="en-GB" sz="1800" dirty="0"/>
                    </a:p>
                  </a:txBody>
                  <a:tcPr marL="91445" marR="91445" marT="45717" marB="4571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altLang="en-US" sz="1800" dirty="0" smtClean="0"/>
                        <a:t>equal to</a:t>
                      </a:r>
                      <a:endParaRPr lang="en-GB" sz="1800" dirty="0"/>
                    </a:p>
                  </a:txBody>
                  <a:tcPr marL="91445" marR="91445" marT="45717" marB="4571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altLang="en-US" sz="1800" dirty="0" smtClean="0"/>
                        <a:t>7==7</a:t>
                      </a:r>
                      <a:endParaRPr lang="en-GB" sz="1800" dirty="0"/>
                    </a:p>
                  </a:txBody>
                  <a:tcPr marL="91445" marR="91445" marT="45717" marB="4571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altLang="en-US" sz="1800" dirty="0" smtClean="0"/>
                        <a:t>True</a:t>
                      </a:r>
                      <a:endParaRPr lang="en-GB" sz="1800" dirty="0"/>
                    </a:p>
                  </a:txBody>
                  <a:tcPr marL="91445" marR="91445" marT="45717" marB="45717" anchor="ctr"/>
                </a:tc>
              </a:tr>
              <a:tr h="517520">
                <a:tc>
                  <a:txBody>
                    <a:bodyPr/>
                    <a:lstStyle/>
                    <a:p>
                      <a:pPr algn="ctr"/>
                      <a:r>
                        <a:rPr lang="en-GB" altLang="en-US" sz="1800" dirty="0" smtClean="0"/>
                        <a:t>!=</a:t>
                      </a:r>
                      <a:endParaRPr lang="en-GB" sz="1800" dirty="0"/>
                    </a:p>
                  </a:txBody>
                  <a:tcPr marL="91445" marR="91445" marT="45717" marB="4571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altLang="en-US" sz="1800" dirty="0" smtClean="0"/>
                        <a:t>not equal to </a:t>
                      </a:r>
                      <a:endParaRPr lang="en-GB" sz="1800" dirty="0"/>
                    </a:p>
                  </a:txBody>
                  <a:tcPr marL="91445" marR="91445" marT="45717" marB="4571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altLang="en-US" sz="1800" dirty="0" smtClean="0"/>
                        <a:t>6!=7</a:t>
                      </a:r>
                      <a:endParaRPr lang="en-GB" sz="1800" dirty="0"/>
                    </a:p>
                  </a:txBody>
                  <a:tcPr marL="91445" marR="91445" marT="45717" marB="4571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altLang="en-US" sz="1800" dirty="0" smtClean="0"/>
                        <a:t>True</a:t>
                      </a:r>
                      <a:endParaRPr lang="en-GB" sz="1800" dirty="0"/>
                    </a:p>
                  </a:txBody>
                  <a:tcPr marL="91445" marR="91445" marT="45717" marB="45717" anchor="ctr"/>
                </a:tc>
              </a:tr>
              <a:tr h="517520">
                <a:tc>
                  <a:txBody>
                    <a:bodyPr/>
                    <a:lstStyle/>
                    <a:p>
                      <a:pPr algn="ctr"/>
                      <a:r>
                        <a:rPr lang="en-GB" altLang="en-US" sz="1800" dirty="0" smtClean="0"/>
                        <a:t>&gt;</a:t>
                      </a:r>
                      <a:endParaRPr lang="en-GB" sz="1800" dirty="0"/>
                    </a:p>
                  </a:txBody>
                  <a:tcPr marL="91445" marR="91445" marT="45717" marB="4571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altLang="en-US" sz="1800" dirty="0" smtClean="0"/>
                        <a:t>Greater than </a:t>
                      </a:r>
                      <a:endParaRPr lang="en-GB" sz="1800" dirty="0"/>
                    </a:p>
                  </a:txBody>
                  <a:tcPr marL="91445" marR="91445" marT="45717" marB="4571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altLang="en-US" sz="1800" dirty="0" smtClean="0"/>
                        <a:t>7&gt;6</a:t>
                      </a:r>
                      <a:endParaRPr lang="en-GB" sz="1800" dirty="0"/>
                    </a:p>
                  </a:txBody>
                  <a:tcPr marL="91445" marR="91445" marT="45717" marB="4571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altLang="en-US" sz="1800" dirty="0" smtClean="0"/>
                        <a:t>True</a:t>
                      </a:r>
                      <a:endParaRPr lang="en-GB" sz="1800" dirty="0"/>
                    </a:p>
                  </a:txBody>
                  <a:tcPr marL="91445" marR="91445" marT="45717" marB="45717" anchor="ctr"/>
                </a:tc>
              </a:tr>
              <a:tr h="517520">
                <a:tc>
                  <a:txBody>
                    <a:bodyPr/>
                    <a:lstStyle/>
                    <a:p>
                      <a:pPr algn="ctr"/>
                      <a:r>
                        <a:rPr lang="en-GB" altLang="en-US" sz="1800" dirty="0" smtClean="0"/>
                        <a:t>&lt;</a:t>
                      </a:r>
                      <a:endParaRPr lang="en-GB" sz="1800" dirty="0"/>
                    </a:p>
                  </a:txBody>
                  <a:tcPr marL="91445" marR="91445" marT="45717" marB="4571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altLang="en-US" sz="1800" dirty="0" smtClean="0"/>
                        <a:t>Less than</a:t>
                      </a:r>
                      <a:endParaRPr lang="en-GB" sz="1800" dirty="0"/>
                    </a:p>
                  </a:txBody>
                  <a:tcPr marL="91445" marR="91445" marT="45717" marB="4571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altLang="en-US" sz="1800" dirty="0" smtClean="0"/>
                        <a:t>5&lt;8</a:t>
                      </a:r>
                      <a:endParaRPr lang="en-GB" sz="1800" dirty="0"/>
                    </a:p>
                  </a:txBody>
                  <a:tcPr marL="91445" marR="91445" marT="45717" marB="4571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 smtClean="0"/>
                        <a:t>True</a:t>
                      </a:r>
                      <a:endParaRPr lang="en-GB" sz="1800" dirty="0"/>
                    </a:p>
                  </a:txBody>
                  <a:tcPr marL="91445" marR="91445" marT="45717" marB="45717" anchor="ctr"/>
                </a:tc>
              </a:tr>
              <a:tr h="566744">
                <a:tc>
                  <a:txBody>
                    <a:bodyPr/>
                    <a:lstStyle/>
                    <a:p>
                      <a:pPr algn="ctr"/>
                      <a:r>
                        <a:rPr lang="en-GB" altLang="en-US" sz="1800" dirty="0" smtClean="0"/>
                        <a:t>&gt;=</a:t>
                      </a:r>
                      <a:endParaRPr lang="en-GB" sz="1800" dirty="0"/>
                    </a:p>
                  </a:txBody>
                  <a:tcPr marL="91445" marR="91445" marT="45717" marB="4571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altLang="en-US" sz="1800" dirty="0" smtClean="0"/>
                        <a:t>Greater than or equal to </a:t>
                      </a:r>
                      <a:endParaRPr lang="en-GB" sz="1800" dirty="0"/>
                    </a:p>
                  </a:txBody>
                  <a:tcPr marL="91445" marR="91445" marT="45717" marB="4571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altLang="en-US" sz="1800" dirty="0" smtClean="0"/>
                        <a:t>6&gt;=8</a:t>
                      </a:r>
                      <a:endParaRPr lang="en-GB" sz="1800" dirty="0"/>
                    </a:p>
                  </a:txBody>
                  <a:tcPr marL="91445" marR="91445" marT="45717" marB="4571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 smtClean="0"/>
                        <a:t>False</a:t>
                      </a:r>
                      <a:endParaRPr lang="en-GB" sz="1800" dirty="0"/>
                    </a:p>
                  </a:txBody>
                  <a:tcPr marL="91445" marR="91445" marT="45717" marB="45717" anchor="ctr"/>
                </a:tc>
              </a:tr>
              <a:tr h="566744">
                <a:tc>
                  <a:txBody>
                    <a:bodyPr/>
                    <a:lstStyle/>
                    <a:p>
                      <a:pPr algn="ctr"/>
                      <a:r>
                        <a:rPr lang="en-GB" altLang="en-US" sz="1800" dirty="0" smtClean="0"/>
                        <a:t>&lt;=</a:t>
                      </a:r>
                      <a:endParaRPr lang="en-GB" sz="1800" dirty="0"/>
                    </a:p>
                  </a:txBody>
                  <a:tcPr marL="91445" marR="91445" marT="45717" marB="4571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altLang="en-US" sz="1800" dirty="0" smtClean="0"/>
                        <a:t>Less than or equal to</a:t>
                      </a:r>
                      <a:endParaRPr lang="en-GB" sz="1800" dirty="0"/>
                    </a:p>
                  </a:txBody>
                  <a:tcPr marL="91445" marR="91445" marT="45717" marB="4571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altLang="en-US" sz="1800" dirty="0" smtClean="0"/>
                        <a:t>7&lt;=7</a:t>
                      </a:r>
                      <a:endParaRPr lang="en-GB" sz="1800" dirty="0"/>
                    </a:p>
                  </a:txBody>
                  <a:tcPr marL="91445" marR="91445" marT="45717" marB="4571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 smtClean="0"/>
                        <a:t>True</a:t>
                      </a:r>
                      <a:endParaRPr lang="en-GB" sz="1800" dirty="0"/>
                    </a:p>
                  </a:txBody>
                  <a:tcPr marL="91445" marR="91445" marT="45717" marB="45717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975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smtClean="0"/>
              <a:t>Who uses IF statements?</a:t>
            </a: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457200" y="1844824"/>
            <a:ext cx="3898776" cy="4165923"/>
          </a:xfrm>
        </p:spPr>
        <p:txBody>
          <a:bodyPr/>
          <a:lstStyle/>
          <a:p>
            <a:pPr eaLnBrk="1" hangingPunct="1"/>
            <a:r>
              <a:rPr lang="en-GB" altLang="en-US" sz="4000" dirty="0" smtClean="0"/>
              <a:t>Thinking of a mobile phone, for example, where might an </a:t>
            </a:r>
            <a:r>
              <a:rPr lang="en-GB" altLang="en-US" sz="4000" b="1" dirty="0" smtClean="0"/>
              <a:t>IF</a:t>
            </a:r>
            <a:r>
              <a:rPr lang="en-GB" altLang="en-US" sz="4000" dirty="0" smtClean="0"/>
              <a:t> Statement appear in its coding?</a:t>
            </a:r>
          </a:p>
          <a:p>
            <a:pPr eaLnBrk="1" hangingPunct="1"/>
            <a:endParaRPr lang="en-GB" altLang="en-US" sz="4000" dirty="0" smtClean="0"/>
          </a:p>
        </p:txBody>
      </p:sp>
      <p:sp>
        <p:nvSpPr>
          <p:cNvPr id="13316" name="TextBox 3"/>
          <p:cNvSpPr txBox="1">
            <a:spLocks noChangeArrowheads="1"/>
          </p:cNvSpPr>
          <p:nvPr/>
        </p:nvSpPr>
        <p:spPr bwMode="auto">
          <a:xfrm>
            <a:off x="6732588" y="3789363"/>
            <a:ext cx="11969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>
                <a:latin typeface="Arial" pitchFamily="34" charset="0"/>
              </a:rPr>
              <a:t>Iphone 5s</a:t>
            </a:r>
          </a:p>
        </p:txBody>
      </p:sp>
      <p:pic>
        <p:nvPicPr>
          <p:cNvPr id="1331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62" t="13211" r="13464" b="6113"/>
          <a:stretch>
            <a:fillRect/>
          </a:stretch>
        </p:blipFill>
        <p:spPr bwMode="auto">
          <a:xfrm rot="1791622">
            <a:off x="5314950" y="1371600"/>
            <a:ext cx="2625725" cy="519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23559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smtClean="0"/>
              <a:t>Write a program</a:t>
            </a:r>
          </a:p>
        </p:txBody>
      </p:sp>
      <p:sp>
        <p:nvSpPr>
          <p:cNvPr id="14339" name="Content Placeholder 2"/>
          <p:cNvSpPr>
            <a:spLocks noGrp="1"/>
          </p:cNvSpPr>
          <p:nvPr>
            <p:ph idx="1"/>
          </p:nvPr>
        </p:nvSpPr>
        <p:spPr>
          <a:xfrm>
            <a:off x="457200" y="1844824"/>
            <a:ext cx="8229600" cy="4829026"/>
          </a:xfrm>
        </p:spPr>
        <p:txBody>
          <a:bodyPr/>
          <a:lstStyle/>
          <a:p>
            <a:pPr eaLnBrk="1" hangingPunct="1"/>
            <a:r>
              <a:rPr lang="en-GB" altLang="en-US" dirty="0" smtClean="0"/>
              <a:t>Write a simple program that might be used inside a police speed camera (radar check).</a:t>
            </a:r>
          </a:p>
        </p:txBody>
      </p:sp>
      <p:sp>
        <p:nvSpPr>
          <p:cNvPr id="4" name="Rectangle 3"/>
          <p:cNvSpPr/>
          <p:nvPr/>
        </p:nvSpPr>
        <p:spPr>
          <a:xfrm>
            <a:off x="3492500" y="3141663"/>
            <a:ext cx="4967288" cy="3532187"/>
          </a:xfrm>
          <a:prstGeom prst="rect">
            <a:avLst/>
          </a:prstGeom>
        </p:spPr>
        <p:txBody>
          <a:bodyPr>
            <a:spAutoFit/>
          </a:bodyPr>
          <a:lstStyle/>
          <a:p>
            <a:pPr lvl="1"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GB" sz="2600" b="1" dirty="0">
                <a:solidFill>
                  <a:prstClr val="black"/>
                </a:solidFill>
                <a:latin typeface="Calibri"/>
                <a:cs typeface="+mn-cs"/>
              </a:rPr>
              <a:t>The Requirements are:</a:t>
            </a:r>
          </a:p>
          <a:p>
            <a:pPr marL="742950" lvl="1" indent="-28575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–"/>
              <a:defRPr/>
            </a:pPr>
            <a:r>
              <a:rPr lang="en-GB" sz="2600" dirty="0">
                <a:solidFill>
                  <a:prstClr val="black"/>
                </a:solidFill>
                <a:latin typeface="Calibri"/>
                <a:cs typeface="+mn-cs"/>
              </a:rPr>
              <a:t>It must accept the driver’s speed</a:t>
            </a:r>
          </a:p>
          <a:p>
            <a:pPr marL="742950" lvl="1" indent="-28575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–"/>
              <a:defRPr/>
            </a:pPr>
            <a:r>
              <a:rPr lang="en-GB" sz="2600" dirty="0">
                <a:solidFill>
                  <a:prstClr val="black"/>
                </a:solidFill>
                <a:latin typeface="Calibri"/>
                <a:cs typeface="+mn-cs"/>
              </a:rPr>
              <a:t>IF the speed is over 70mph, a message “</a:t>
            </a:r>
            <a:r>
              <a:rPr lang="en-GB" sz="2600" i="1" dirty="0">
                <a:solidFill>
                  <a:prstClr val="black"/>
                </a:solidFill>
                <a:latin typeface="Calibri"/>
                <a:cs typeface="+mn-cs"/>
              </a:rPr>
              <a:t>Issue Fine</a:t>
            </a:r>
            <a:r>
              <a:rPr lang="en-GB" sz="2600" dirty="0">
                <a:solidFill>
                  <a:prstClr val="black"/>
                </a:solidFill>
                <a:latin typeface="Calibri"/>
                <a:cs typeface="+mn-cs"/>
              </a:rPr>
              <a:t>” should appear on the speed gun</a:t>
            </a:r>
          </a:p>
          <a:p>
            <a:pPr marL="742950" lvl="1" indent="-28575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–"/>
              <a:defRPr/>
            </a:pPr>
            <a:r>
              <a:rPr lang="en-GB" sz="2600" dirty="0">
                <a:solidFill>
                  <a:prstClr val="black"/>
                </a:solidFill>
                <a:latin typeface="Calibri"/>
                <a:cs typeface="+mn-cs"/>
              </a:rPr>
              <a:t>Otherwise it should display </a:t>
            </a:r>
            <a:br>
              <a:rPr lang="en-GB" sz="2600" dirty="0">
                <a:solidFill>
                  <a:prstClr val="black"/>
                </a:solidFill>
                <a:latin typeface="Calibri"/>
                <a:cs typeface="+mn-cs"/>
              </a:rPr>
            </a:br>
            <a:r>
              <a:rPr lang="en-GB" sz="2600" dirty="0">
                <a:solidFill>
                  <a:prstClr val="black"/>
                </a:solidFill>
                <a:latin typeface="Calibri"/>
                <a:cs typeface="+mn-cs"/>
              </a:rPr>
              <a:t>“</a:t>
            </a:r>
            <a:r>
              <a:rPr lang="en-GB" sz="2600" i="1" dirty="0">
                <a:solidFill>
                  <a:prstClr val="black"/>
                </a:solidFill>
                <a:latin typeface="Calibri"/>
                <a:cs typeface="+mn-cs"/>
              </a:rPr>
              <a:t>No Action</a:t>
            </a:r>
            <a:r>
              <a:rPr lang="en-GB" sz="2600" dirty="0">
                <a:solidFill>
                  <a:prstClr val="black"/>
                </a:solidFill>
                <a:latin typeface="Calibri"/>
                <a:cs typeface="+mn-cs"/>
              </a:rPr>
              <a:t>”</a:t>
            </a:r>
          </a:p>
        </p:txBody>
      </p:sp>
      <p:pic>
        <p:nvPicPr>
          <p:cNvPr id="14341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8" r="37910" b="6786"/>
          <a:stretch>
            <a:fillRect/>
          </a:stretch>
        </p:blipFill>
        <p:spPr bwMode="auto">
          <a:xfrm>
            <a:off x="0" y="2808288"/>
            <a:ext cx="4140200" cy="407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01026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smtClean="0"/>
              <a:t>The ELIF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44824"/>
            <a:ext cx="3322712" cy="4165923"/>
          </a:xfrm>
        </p:spPr>
        <p:txBody>
          <a:bodyPr rtlCol="0">
            <a:normAutofit fontScale="925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dirty="0" smtClean="0"/>
              <a:t>If gives you two options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GB" dirty="0" smtClean="0"/>
              <a:t>ELIF stands for Else, If and gives you more options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GB" dirty="0" smtClean="0"/>
              <a:t>You can use it as many times as you like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en-GB" dirty="0" smtClean="0"/>
          </a:p>
        </p:txBody>
      </p:sp>
      <p:sp>
        <p:nvSpPr>
          <p:cNvPr id="4" name="Rectangle 3"/>
          <p:cNvSpPr/>
          <p:nvPr/>
        </p:nvSpPr>
        <p:spPr>
          <a:xfrm>
            <a:off x="3995738" y="2132856"/>
            <a:ext cx="5256212" cy="354012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en-GB" sz="2800" dirty="0">
                <a:solidFill>
                  <a:schemeClr val="accent6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if</a:t>
            </a:r>
            <a:r>
              <a:rPr lang="en-GB" sz="2800" dirty="0">
                <a:latin typeface="Consolas" pitchFamily="49" charset="0"/>
                <a:cs typeface="Consolas" pitchFamily="49" charset="0"/>
              </a:rPr>
              <a:t> grade &gt;= 80:</a:t>
            </a:r>
          </a:p>
          <a:p>
            <a:pPr>
              <a:defRPr/>
            </a:pPr>
            <a:r>
              <a:rPr lang="en-GB" sz="2800" dirty="0">
                <a:latin typeface="Consolas" pitchFamily="49" charset="0"/>
                <a:cs typeface="Consolas" pitchFamily="49" charset="0"/>
              </a:rPr>
              <a:t>    	</a:t>
            </a:r>
            <a:r>
              <a:rPr lang="en-GB" sz="2800" dirty="0">
                <a:solidFill>
                  <a:srgbClr val="7030A0"/>
                </a:solidFill>
                <a:latin typeface="Consolas" pitchFamily="49" charset="0"/>
                <a:cs typeface="Consolas" pitchFamily="49" charset="0"/>
              </a:rPr>
              <a:t>print</a:t>
            </a:r>
            <a:r>
              <a:rPr lang="en-GB" sz="2800" dirty="0">
                <a:latin typeface="Consolas" pitchFamily="49" charset="0"/>
                <a:cs typeface="Consolas" pitchFamily="49" charset="0"/>
              </a:rPr>
              <a:t>(</a:t>
            </a:r>
            <a:r>
              <a:rPr lang="en-GB" sz="2800" dirty="0">
                <a:solidFill>
                  <a:srgbClr val="00B050"/>
                </a:solidFill>
                <a:latin typeface="Consolas" pitchFamily="49" charset="0"/>
                <a:cs typeface="Consolas" pitchFamily="49" charset="0"/>
              </a:rPr>
              <a:t>"Distinction"</a:t>
            </a:r>
            <a:r>
              <a:rPr lang="en-GB" sz="2800" dirty="0">
                <a:latin typeface="Consolas" pitchFamily="49" charset="0"/>
                <a:cs typeface="Consolas" pitchFamily="49" charset="0"/>
              </a:rPr>
              <a:t>)</a:t>
            </a:r>
          </a:p>
          <a:p>
            <a:pPr>
              <a:defRPr/>
            </a:pPr>
            <a:r>
              <a:rPr lang="en-GB" sz="2800" dirty="0" err="1">
                <a:solidFill>
                  <a:schemeClr val="accent6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elif</a:t>
            </a:r>
            <a:r>
              <a:rPr lang="en-GB" sz="2800" dirty="0">
                <a:solidFill>
                  <a:schemeClr val="accent6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GB" sz="2800" dirty="0">
                <a:latin typeface="Consolas" pitchFamily="49" charset="0"/>
                <a:cs typeface="Consolas" pitchFamily="49" charset="0"/>
              </a:rPr>
              <a:t>grade &gt;= 70:</a:t>
            </a:r>
          </a:p>
          <a:p>
            <a:pPr>
              <a:defRPr/>
            </a:pPr>
            <a:r>
              <a:rPr lang="en-GB" sz="2800" dirty="0">
                <a:latin typeface="Consolas" pitchFamily="49" charset="0"/>
                <a:cs typeface="Consolas" pitchFamily="49" charset="0"/>
              </a:rPr>
              <a:t>    </a:t>
            </a:r>
            <a:r>
              <a:rPr lang="en-GB" sz="2800" dirty="0">
                <a:solidFill>
                  <a:srgbClr val="7030A0"/>
                </a:solidFill>
                <a:latin typeface="Consolas" pitchFamily="49" charset="0"/>
                <a:cs typeface="Consolas" pitchFamily="49" charset="0"/>
              </a:rPr>
              <a:t>print</a:t>
            </a:r>
            <a:r>
              <a:rPr lang="en-GB" sz="2800" dirty="0">
                <a:latin typeface="Consolas" pitchFamily="49" charset="0"/>
                <a:cs typeface="Consolas" pitchFamily="49" charset="0"/>
              </a:rPr>
              <a:t>(</a:t>
            </a:r>
            <a:r>
              <a:rPr lang="en-GB" sz="2800" dirty="0">
                <a:solidFill>
                  <a:srgbClr val="00B050"/>
                </a:solidFill>
                <a:latin typeface="Consolas" pitchFamily="49" charset="0"/>
                <a:cs typeface="Consolas" pitchFamily="49" charset="0"/>
              </a:rPr>
              <a:t>"Merit"</a:t>
            </a:r>
            <a:r>
              <a:rPr lang="en-GB" sz="2800" dirty="0">
                <a:latin typeface="Consolas" pitchFamily="49" charset="0"/>
                <a:cs typeface="Consolas" pitchFamily="49" charset="0"/>
              </a:rPr>
              <a:t>)</a:t>
            </a:r>
          </a:p>
          <a:p>
            <a:pPr>
              <a:defRPr/>
            </a:pPr>
            <a:r>
              <a:rPr lang="en-GB" sz="2800" dirty="0" err="1">
                <a:solidFill>
                  <a:schemeClr val="accent6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elif</a:t>
            </a:r>
            <a:r>
              <a:rPr lang="en-GB" sz="2800" dirty="0">
                <a:solidFill>
                  <a:schemeClr val="accent6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GB" sz="2800" dirty="0">
                <a:latin typeface="Consolas" pitchFamily="49" charset="0"/>
                <a:cs typeface="Consolas" pitchFamily="49" charset="0"/>
              </a:rPr>
              <a:t>grade &gt;= 60:</a:t>
            </a:r>
          </a:p>
          <a:p>
            <a:pPr>
              <a:defRPr/>
            </a:pPr>
            <a:r>
              <a:rPr lang="en-GB" sz="2800" dirty="0">
                <a:latin typeface="Consolas" pitchFamily="49" charset="0"/>
                <a:cs typeface="Consolas" pitchFamily="49" charset="0"/>
              </a:rPr>
              <a:t>    </a:t>
            </a:r>
            <a:r>
              <a:rPr lang="en-GB" sz="2800" dirty="0">
                <a:solidFill>
                  <a:srgbClr val="7030A0"/>
                </a:solidFill>
                <a:latin typeface="Consolas" pitchFamily="49" charset="0"/>
                <a:cs typeface="Consolas" pitchFamily="49" charset="0"/>
              </a:rPr>
              <a:t>print</a:t>
            </a:r>
            <a:r>
              <a:rPr lang="en-GB" sz="2800" dirty="0">
                <a:latin typeface="Consolas" pitchFamily="49" charset="0"/>
                <a:cs typeface="Consolas" pitchFamily="49" charset="0"/>
              </a:rPr>
              <a:t>(</a:t>
            </a:r>
            <a:r>
              <a:rPr lang="en-GB" sz="2800" dirty="0">
                <a:solidFill>
                  <a:srgbClr val="00B050"/>
                </a:solidFill>
                <a:latin typeface="Consolas" pitchFamily="49" charset="0"/>
                <a:cs typeface="Consolas" pitchFamily="49" charset="0"/>
              </a:rPr>
              <a:t>"Pass"</a:t>
            </a:r>
            <a:r>
              <a:rPr lang="en-GB" sz="2800" dirty="0">
                <a:latin typeface="Consolas" pitchFamily="49" charset="0"/>
                <a:cs typeface="Consolas" pitchFamily="49" charset="0"/>
              </a:rPr>
              <a:t>)</a:t>
            </a:r>
          </a:p>
          <a:p>
            <a:pPr>
              <a:defRPr/>
            </a:pPr>
            <a:r>
              <a:rPr lang="en-GB" sz="2800" dirty="0">
                <a:solidFill>
                  <a:schemeClr val="accent6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else</a:t>
            </a:r>
            <a:r>
              <a:rPr lang="en-GB" sz="2800" dirty="0">
                <a:latin typeface="Consolas" pitchFamily="49" charset="0"/>
                <a:cs typeface="Consolas" pitchFamily="49" charset="0"/>
              </a:rPr>
              <a:t>:</a:t>
            </a:r>
          </a:p>
          <a:p>
            <a:pPr>
              <a:defRPr/>
            </a:pPr>
            <a:r>
              <a:rPr lang="en-GB" sz="2800" dirty="0">
                <a:latin typeface="Consolas" pitchFamily="49" charset="0"/>
                <a:cs typeface="Consolas" pitchFamily="49" charset="0"/>
              </a:rPr>
              <a:t>    </a:t>
            </a:r>
            <a:r>
              <a:rPr lang="en-GB" sz="2800" dirty="0">
                <a:solidFill>
                  <a:srgbClr val="7030A0"/>
                </a:solidFill>
                <a:latin typeface="Consolas" pitchFamily="49" charset="0"/>
                <a:cs typeface="Consolas" pitchFamily="49" charset="0"/>
              </a:rPr>
              <a:t>print</a:t>
            </a:r>
            <a:r>
              <a:rPr lang="en-GB" sz="2800" dirty="0">
                <a:latin typeface="Consolas" pitchFamily="49" charset="0"/>
                <a:cs typeface="Consolas" pitchFamily="49" charset="0"/>
              </a:rPr>
              <a:t>(</a:t>
            </a:r>
            <a:r>
              <a:rPr lang="en-GB" sz="2800" dirty="0">
                <a:solidFill>
                  <a:srgbClr val="00B050"/>
                </a:solidFill>
                <a:latin typeface="Consolas" pitchFamily="49" charset="0"/>
                <a:cs typeface="Consolas" pitchFamily="49" charset="0"/>
              </a:rPr>
              <a:t>"Fail"</a:t>
            </a:r>
            <a:r>
              <a:rPr lang="en-GB" sz="2800" dirty="0">
                <a:latin typeface="Consolas" pitchFamily="49" charset="0"/>
                <a:cs typeface="Consolas" pitchFamily="49" charset="0"/>
              </a:rPr>
              <a:t>)</a:t>
            </a:r>
          </a:p>
        </p:txBody>
      </p:sp>
      <p:sp>
        <p:nvSpPr>
          <p:cNvPr id="5" name="Rectangle 4"/>
          <p:cNvSpPr/>
          <p:nvPr/>
        </p:nvSpPr>
        <p:spPr>
          <a:xfrm>
            <a:off x="3890557" y="1988840"/>
            <a:ext cx="5040313" cy="3960812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127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smtClean="0"/>
              <a:t>Using the ELIF statement</a:t>
            </a:r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>
          <a:xfrm>
            <a:off x="457200" y="1844824"/>
            <a:ext cx="4762500" cy="4165923"/>
          </a:xfrm>
        </p:spPr>
        <p:txBody>
          <a:bodyPr/>
          <a:lstStyle/>
          <a:p>
            <a:pPr eaLnBrk="1" hangingPunct="1"/>
            <a:r>
              <a:rPr lang="en-GB" altLang="en-US" dirty="0" smtClean="0"/>
              <a:t>Add an </a:t>
            </a:r>
            <a:r>
              <a:rPr lang="en-GB" altLang="en-US" b="1" dirty="0" smtClean="0"/>
              <a:t>ELIF</a:t>
            </a:r>
            <a:r>
              <a:rPr lang="en-GB" altLang="en-US" dirty="0" smtClean="0"/>
              <a:t> statement to the Speeding program.</a:t>
            </a:r>
          </a:p>
          <a:p>
            <a:pPr eaLnBrk="1" hangingPunct="1"/>
            <a:r>
              <a:rPr lang="en-GB" altLang="en-US" dirty="0" smtClean="0"/>
              <a:t>Issue a warning between 70 and 75mph </a:t>
            </a:r>
          </a:p>
          <a:p>
            <a:pPr eaLnBrk="1" hangingPunct="1"/>
            <a:r>
              <a:rPr lang="en-GB" altLang="en-US" dirty="0" smtClean="0"/>
              <a:t>Only issue a fine for 75mph and over</a:t>
            </a:r>
          </a:p>
        </p:txBody>
      </p:sp>
      <p:pic>
        <p:nvPicPr>
          <p:cNvPr id="16388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88" t="12245" r="20255"/>
          <a:stretch>
            <a:fillRect/>
          </a:stretch>
        </p:blipFill>
        <p:spPr bwMode="auto">
          <a:xfrm>
            <a:off x="5219700" y="2420938"/>
            <a:ext cx="3524250" cy="448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7071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GOnline PP Guide 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PGOnline PP Guide Template</Template>
  <TotalTime>20</TotalTime>
  <Words>386</Words>
  <Application>Microsoft Office PowerPoint</Application>
  <PresentationFormat>On-screen Show (4:3)</PresentationFormat>
  <Paragraphs>94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Calibri</vt:lpstr>
      <vt:lpstr>Museo 300</vt:lpstr>
      <vt:lpstr>Museo 700</vt:lpstr>
      <vt:lpstr>Arial</vt:lpstr>
      <vt:lpstr>Consolas</vt:lpstr>
      <vt:lpstr>PGOnline PP Guide Template</vt:lpstr>
      <vt:lpstr>Learning Objectives</vt:lpstr>
      <vt:lpstr>What exactly does this program do?</vt:lpstr>
      <vt:lpstr>Indentation!</vt:lpstr>
      <vt:lpstr>Using an IF Statement</vt:lpstr>
      <vt:lpstr>IF Syntax</vt:lpstr>
      <vt:lpstr>Comparison operators</vt:lpstr>
      <vt:lpstr>Who uses IF statements?</vt:lpstr>
      <vt:lpstr>Write a program</vt:lpstr>
      <vt:lpstr>The ELIF Statement</vt:lpstr>
      <vt:lpstr>Using the ELIF statement</vt:lpstr>
    </vt:vector>
  </TitlesOfParts>
  <Company>PG Online Ltd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Selection Non-Linear Programs</dc:title>
  <dc:creator/>
  <cp:lastModifiedBy>Shakir Laher</cp:lastModifiedBy>
  <cp:revision>6</cp:revision>
  <dcterms:created xsi:type="dcterms:W3CDTF">2013-11-02T09:28:51Z</dcterms:created>
  <dcterms:modified xsi:type="dcterms:W3CDTF">2016-09-01T07:22:06Z</dcterms:modified>
</cp:coreProperties>
</file>