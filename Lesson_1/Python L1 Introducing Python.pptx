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useo 300" panose="02000000000000000000" charset="0"/>
      <p:regular r:id="rId24"/>
    </p:embeddedFont>
    <p:embeddedFont>
      <p:font typeface="Museo 700" panose="02000000000000000000" charset="0"/>
      <p:bold r:id="rId25"/>
    </p:embeddedFont>
    <p:embeddedFont>
      <p:font typeface="宋体" panose="02010600030101010101" pitchFamily="2" charset="-122"/>
      <p:regular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ED"/>
    <a:srgbClr val="000F2E"/>
    <a:srgbClr val="D1E0FF"/>
    <a:srgbClr val="B3CCFF"/>
    <a:srgbClr val="002060"/>
    <a:srgbClr val="0C2026"/>
    <a:srgbClr val="31859C"/>
    <a:srgbClr val="003F46"/>
    <a:srgbClr val="420614"/>
    <a:srgbClr val="780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81F66-94A2-4447-BC88-4966A47A89D5}" type="datetimeFigureOut">
              <a:rPr lang="en-GB" smtClean="0"/>
              <a:t>01/09/2016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6C9F1-154C-4776-A549-E0C49C8CAB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507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11284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22509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89972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8700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8120E26-72D6-408A-ABE1-EB8F43268EB8}" type="slidenum">
              <a:rPr lang="en-GB" altLang="en-US" smtClean="0">
                <a:latin typeface="Arial" pitchFamily="34" charset="0"/>
                <a:cs typeface="Arial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GB" alt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605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59575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8673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68774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70980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64831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57834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51051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57277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26702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94738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46413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2977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059" y="1662253"/>
            <a:ext cx="9144000" cy="1038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700808"/>
            <a:ext cx="9144000" cy="4464496"/>
          </a:xfrm>
          <a:prstGeom prst="rect">
            <a:avLst/>
          </a:prstGeom>
          <a:gradFill>
            <a:gsLst>
              <a:gs pos="88000">
                <a:srgbClr val="1B70ED"/>
              </a:gs>
              <a:gs pos="0">
                <a:srgbClr val="1B70ED">
                  <a:lumMod val="70000"/>
                </a:srgbClr>
              </a:gs>
              <a:gs pos="100000">
                <a:srgbClr val="1B70ED">
                  <a:lumMod val="70000"/>
                </a:srgbClr>
              </a:gs>
              <a:gs pos="14000">
                <a:srgbClr val="1B70E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747592"/>
            <a:ext cx="6400800" cy="98566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GB" sz="4400" b="0" kern="1200" baseline="0" dirty="0">
                <a:solidFill>
                  <a:srgbClr val="002060"/>
                </a:solidFill>
                <a:latin typeface="Museo 300" panose="02000000000000000000" pitchFamily="2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Unit Name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8" t="22184" r="29080" b="25759"/>
          <a:stretch/>
        </p:blipFill>
        <p:spPr>
          <a:xfrm>
            <a:off x="3794122" y="157457"/>
            <a:ext cx="1584176" cy="1304286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457200" y="2112938"/>
            <a:ext cx="8229600" cy="752499"/>
          </a:xfrm>
          <a:prstGeom prst="rect">
            <a:avLst/>
          </a:prstGeom>
        </p:spPr>
        <p:txBody>
          <a:bodyPr/>
          <a:lstStyle>
            <a:lvl1pPr>
              <a:defRPr lang="en-GB" sz="9600" b="1" kern="1200" dirty="0">
                <a:solidFill>
                  <a:schemeClr val="bg1"/>
                </a:solidFill>
                <a:latin typeface="Museo 700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Lesson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23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1851"/>
            <a:ext cx="8229600" cy="88297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659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7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10800000">
            <a:off x="-70718" y="639105"/>
            <a:ext cx="9235440" cy="114202"/>
          </a:xfrm>
          <a:prstGeom prst="rect">
            <a:avLst/>
          </a:prstGeom>
          <a:solidFill>
            <a:srgbClr val="0C2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  <a:latin typeface="Museo 300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 rot="10800000">
            <a:off x="-67628" y="-1983"/>
            <a:ext cx="9235440" cy="712879"/>
          </a:xfrm>
          <a:prstGeom prst="rect">
            <a:avLst/>
          </a:prstGeom>
          <a:solidFill>
            <a:srgbClr val="1B7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64526" y="28487"/>
            <a:ext cx="4487944" cy="63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Introduction to Python</a:t>
            </a:r>
            <a:b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</a:b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B3CC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L1 Introducing Python 3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B3CCFF"/>
              </a:solidFill>
              <a:effectLst/>
              <a:latin typeface="Museo 300" panose="02000000000000000000" pitchFamily="2" charset="0"/>
              <a:cs typeface="Arial" pitchFamily="34" charset="0"/>
            </a:endParaRPr>
          </a:p>
        </p:txBody>
      </p:sp>
      <p:pic>
        <p:nvPicPr>
          <p:cNvPr id="10" name="Picture 2" descr="C:\Users\Rob\Dropbox\KS3 Project\pg_online_logo\ai_eps\PG_Inverse_White_RH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88" y="105094"/>
            <a:ext cx="2426633" cy="54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06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smtClean="0">
                <a:solidFill>
                  <a:srgbClr val="003142"/>
                </a:solidFill>
              </a:rPr>
              <a:t>Learning Objectives</a:t>
            </a:r>
          </a:p>
        </p:txBody>
      </p:sp>
      <p:sp>
        <p:nvSpPr>
          <p:cNvPr id="7171" name="Content Placeholder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altLang="en-US" sz="2400" smtClean="0"/>
              <a:t>Know what Python is and some of the applications it is used for</a:t>
            </a:r>
          </a:p>
          <a:p>
            <a:pPr eaLnBrk="1" hangingPunct="1"/>
            <a:r>
              <a:rPr lang="en-GB" altLang="en-US" sz="2400" smtClean="0"/>
              <a:t>Run a simple Python program in </a:t>
            </a:r>
            <a:r>
              <a:rPr lang="en-GB" altLang="en-US" sz="2400" smtClean="0">
                <a:solidFill>
                  <a:srgbClr val="FF0000"/>
                </a:solidFill>
              </a:rPr>
              <a:t>Interactive mode</a:t>
            </a:r>
            <a:r>
              <a:rPr lang="en-GB" altLang="en-US" sz="2400" smtClean="0"/>
              <a:t> using the </a:t>
            </a:r>
            <a:r>
              <a:rPr lang="en-GB" altLang="en-US" sz="2400" b="1" smtClean="0"/>
              <a:t>input</a:t>
            </a:r>
            <a:r>
              <a:rPr lang="en-GB" altLang="en-US" sz="2400" smtClean="0"/>
              <a:t> and </a:t>
            </a:r>
            <a:r>
              <a:rPr lang="en-GB" altLang="en-US" sz="2400" b="1" smtClean="0"/>
              <a:t>print</a:t>
            </a:r>
            <a:r>
              <a:rPr lang="en-GB" altLang="en-US" sz="2400" smtClean="0"/>
              <a:t> functions</a:t>
            </a:r>
          </a:p>
          <a:p>
            <a:pPr eaLnBrk="1" hangingPunct="1"/>
            <a:r>
              <a:rPr lang="en-GB" altLang="en-US" sz="2400" smtClean="0"/>
              <a:t>Write, save and run a program in </a:t>
            </a:r>
            <a:r>
              <a:rPr lang="en-GB" altLang="en-US" sz="2400" smtClean="0">
                <a:solidFill>
                  <a:srgbClr val="FF0000"/>
                </a:solidFill>
              </a:rPr>
              <a:t>Script mode</a:t>
            </a:r>
          </a:p>
          <a:p>
            <a:pPr eaLnBrk="1" hangingPunct="1"/>
            <a:r>
              <a:rPr lang="en-GB" altLang="en-US" sz="2400" smtClean="0"/>
              <a:t>Understand what a </a:t>
            </a:r>
            <a:r>
              <a:rPr lang="en-GB" altLang="en-US" sz="2400" b="1" smtClean="0"/>
              <a:t>syntax error</a:t>
            </a:r>
            <a:r>
              <a:rPr lang="en-GB" altLang="en-US" sz="2400" smtClean="0"/>
              <a:t> is and how to interpret an error message</a:t>
            </a:r>
          </a:p>
          <a:p>
            <a:pPr eaLnBrk="1" hangingPunct="1"/>
            <a:r>
              <a:rPr lang="en-GB" altLang="en-US" sz="2400" smtClean="0"/>
              <a:t>Know the rules for </a:t>
            </a:r>
            <a:r>
              <a:rPr lang="en-GB" altLang="en-US" sz="2400" b="1" smtClean="0"/>
              <a:t>variable names</a:t>
            </a:r>
            <a:r>
              <a:rPr lang="en-GB" altLang="en-US" sz="2400" smtClean="0"/>
              <a:t> and use variables in a program</a:t>
            </a:r>
          </a:p>
          <a:p>
            <a:pPr eaLnBrk="1" hangingPunct="1"/>
            <a:r>
              <a:rPr lang="en-GB" altLang="en-US" sz="2400" smtClean="0"/>
              <a:t>Understand the use and value of </a:t>
            </a:r>
            <a:r>
              <a:rPr lang="en-GB" altLang="en-US" sz="2400" b="1" smtClean="0"/>
              <a:t>comments</a:t>
            </a:r>
            <a:r>
              <a:rPr lang="en-GB" altLang="en-US" sz="2400" smtClean="0"/>
              <a:t> in a program</a:t>
            </a:r>
          </a:p>
        </p:txBody>
      </p:sp>
    </p:spTree>
    <p:extLst>
      <p:ext uri="{BB962C8B-B14F-4D97-AF65-F5344CB8AC3E}">
        <p14:creationId xmlns:p14="http://schemas.microsoft.com/office/powerpoint/2010/main" val="67238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Frying an Egg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b="1" dirty="0" smtClean="0"/>
              <a:t>Sequencing Instructions:</a:t>
            </a:r>
          </a:p>
          <a:p>
            <a:pPr marL="0" indent="0" eaLnBrk="1" fontAlgn="auto" hangingPunct="1">
              <a:lnSpc>
                <a:spcPct val="11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/>
              <a:t>What is the correct order of these instructions?</a:t>
            </a:r>
          </a:p>
          <a:p>
            <a:pPr marL="514350" indent="-514350" eaLnBrk="1" fontAlgn="auto" hangingPunct="1">
              <a:lnSpc>
                <a:spcPct val="16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chemeClr val="accent6">
                    <a:lumMod val="75000"/>
                  </a:schemeClr>
                </a:solidFill>
              </a:rPr>
              <a:t>Put pan on hob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Break egg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Get frying pan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chemeClr val="accent6">
                    <a:lumMod val="75000"/>
                  </a:schemeClr>
                </a:solidFill>
              </a:rPr>
              <a:t>Put oil in pan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Turn on hob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chemeClr val="accent6">
                    <a:lumMod val="75000"/>
                  </a:schemeClr>
                </a:solidFill>
              </a:rPr>
              <a:t>Hold egg over pan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dirty="0"/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2" t="5258" r="4205"/>
          <a:stretch>
            <a:fillRect/>
          </a:stretch>
        </p:blipFill>
        <p:spPr bwMode="auto">
          <a:xfrm>
            <a:off x="3924300" y="3471863"/>
            <a:ext cx="4824413" cy="312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158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Programming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4400" smtClean="0"/>
              <a:t>Sequencing Instructions</a:t>
            </a:r>
          </a:p>
          <a:p>
            <a:pPr eaLnBrk="1" hangingPunct="1"/>
            <a:r>
              <a:rPr lang="en-GB" altLang="en-US" sz="4400" smtClean="0"/>
              <a:t>Sequence Order Important</a:t>
            </a:r>
          </a:p>
          <a:p>
            <a:pPr eaLnBrk="1" hangingPunct="1"/>
            <a:r>
              <a:rPr lang="en-GB" altLang="en-US" sz="4400" smtClean="0"/>
              <a:t>Accuracy Important</a:t>
            </a:r>
          </a:p>
          <a:p>
            <a:pPr eaLnBrk="1" hangingPunct="1"/>
            <a:endParaRPr lang="en-GB" altLang="en-US" sz="4400" smtClean="0"/>
          </a:p>
        </p:txBody>
      </p:sp>
    </p:spTree>
    <p:extLst>
      <p:ext uri="{BB962C8B-B14F-4D97-AF65-F5344CB8AC3E}">
        <p14:creationId xmlns:p14="http://schemas.microsoft.com/office/powerpoint/2010/main" val="157816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Frying an Egg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rgbClr val="002060"/>
                </a:solidFill>
              </a:rPr>
              <a:t>Get frying pan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rgbClr val="002060"/>
                </a:solidFill>
              </a:rPr>
              <a:t>Put pan on hob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rgbClr val="002060"/>
                </a:solidFill>
              </a:rPr>
              <a:t>Turn on hob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rgbClr val="002060"/>
                </a:solidFill>
              </a:rPr>
              <a:t>Put oil in pan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rgbClr val="002060"/>
                </a:solidFill>
              </a:rPr>
              <a:t>Hold egg over pan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rgbClr val="002060"/>
                </a:solidFill>
              </a:rPr>
              <a:t>Break egg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dirty="0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1484313"/>
            <a:ext cx="4818062" cy="481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82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Example Code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7"/>
          <a:stretch>
            <a:fillRect/>
          </a:stretch>
        </p:blipFill>
        <p:spPr bwMode="auto">
          <a:xfrm>
            <a:off x="506413" y="2105025"/>
            <a:ext cx="8132762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8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Python Language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Simple to Learn</a:t>
            </a:r>
          </a:p>
          <a:p>
            <a:pPr eaLnBrk="1" hangingPunct="1"/>
            <a:r>
              <a:rPr lang="en-GB" altLang="en-US" smtClean="0"/>
              <a:t>Used by:</a:t>
            </a:r>
          </a:p>
          <a:p>
            <a:pPr lvl="1" eaLnBrk="1" hangingPunct="1"/>
            <a:r>
              <a:rPr lang="en-GB" altLang="en-US" smtClean="0"/>
              <a:t>Nokia</a:t>
            </a:r>
          </a:p>
          <a:p>
            <a:pPr lvl="1" eaLnBrk="1" hangingPunct="1"/>
            <a:r>
              <a:rPr lang="en-GB" altLang="en-US" smtClean="0"/>
              <a:t>NASA</a:t>
            </a:r>
          </a:p>
          <a:p>
            <a:pPr lvl="1" eaLnBrk="1" hangingPunct="1"/>
            <a:r>
              <a:rPr lang="en-GB" altLang="en-US" smtClean="0"/>
              <a:t>Paint Shop Pro</a:t>
            </a:r>
          </a:p>
          <a:p>
            <a:pPr lvl="1" eaLnBrk="1" hangingPunct="1"/>
            <a:r>
              <a:rPr lang="en-GB" altLang="en-US" smtClean="0"/>
              <a:t>Google’s Search Engine</a:t>
            </a:r>
          </a:p>
          <a:p>
            <a:pPr lvl="1" eaLnBrk="1" hangingPunct="1"/>
            <a:r>
              <a:rPr lang="en-GB" altLang="en-US" smtClean="0"/>
              <a:t>Civilisation 4 Computer Game</a:t>
            </a:r>
          </a:p>
          <a:p>
            <a:pPr lvl="1" eaLnBrk="1" hangingPunct="1"/>
            <a:r>
              <a:rPr lang="en-GB" altLang="en-US" smtClean="0"/>
              <a:t>CERN Large Hadron Collider Research</a:t>
            </a: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" b="4295"/>
          <a:stretch>
            <a:fillRect/>
          </a:stretch>
        </p:blipFill>
        <p:spPr bwMode="auto">
          <a:xfrm>
            <a:off x="5076825" y="751825"/>
            <a:ext cx="367030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384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Python’s Development Environment</a:t>
            </a:r>
            <a:endParaRPr lang="en-GB" dirty="0"/>
          </a:p>
        </p:txBody>
      </p:sp>
      <p:sp>
        <p:nvSpPr>
          <p:cNvPr id="1331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Called </a:t>
            </a:r>
            <a:r>
              <a:rPr lang="en-GB" altLang="en-US" b="1" dirty="0" smtClean="0"/>
              <a:t>IDLE</a:t>
            </a:r>
            <a:r>
              <a:rPr lang="en-GB" altLang="en-US" dirty="0" smtClean="0"/>
              <a:t> – Integrated Development Environment</a:t>
            </a:r>
          </a:p>
          <a:p>
            <a:pPr eaLnBrk="1" hangingPunct="1"/>
            <a:r>
              <a:rPr lang="en-GB" altLang="en-US" dirty="0" smtClean="0"/>
              <a:t>Two Modes:</a:t>
            </a:r>
          </a:p>
          <a:p>
            <a:pPr lvl="1" eaLnBrk="1" hangingPunct="1"/>
            <a:r>
              <a:rPr lang="en-GB" altLang="en-US" b="1" dirty="0" smtClean="0">
                <a:solidFill>
                  <a:srgbClr val="1B70ED"/>
                </a:solidFill>
              </a:rPr>
              <a:t>Interactive Mode </a:t>
            </a:r>
            <a:r>
              <a:rPr lang="en-GB" altLang="en-US" dirty="0" smtClean="0"/>
              <a:t>let you see your results as you type them</a:t>
            </a:r>
          </a:p>
          <a:p>
            <a:pPr lvl="1" eaLnBrk="1" hangingPunct="1"/>
            <a:r>
              <a:rPr lang="en-GB" altLang="en-US" b="1" dirty="0" smtClean="0">
                <a:solidFill>
                  <a:srgbClr val="1B70ED"/>
                </a:solidFill>
              </a:rPr>
              <a:t>Script Mode </a:t>
            </a:r>
            <a:r>
              <a:rPr lang="en-GB" altLang="en-US" dirty="0" smtClean="0"/>
              <a:t>lets you save your program and run it again later</a:t>
            </a:r>
          </a:p>
        </p:txBody>
      </p:sp>
    </p:spTree>
    <p:extLst>
      <p:ext uri="{BB962C8B-B14F-4D97-AF65-F5344CB8AC3E}">
        <p14:creationId xmlns:p14="http://schemas.microsoft.com/office/powerpoint/2010/main" val="279298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3500438"/>
            <a:ext cx="8147050" cy="2881312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“Hello World!”</a:t>
            </a:r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A programming tradition</a:t>
            </a:r>
          </a:p>
          <a:p>
            <a:pPr eaLnBrk="1" hangingPunct="1"/>
            <a:r>
              <a:rPr lang="en-GB" altLang="en-US" dirty="0" smtClean="0"/>
              <a:t>A simple program to display text on the screen</a:t>
            </a:r>
          </a:p>
          <a:p>
            <a:pPr eaLnBrk="1" hangingPunct="1"/>
            <a:endParaRPr lang="en-GB" altLang="en-US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711575"/>
            <a:ext cx="8229600" cy="25257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GB" dirty="0" smtClean="0"/>
              <a:t>In </a:t>
            </a:r>
            <a:r>
              <a:rPr lang="en-GB" b="1" dirty="0" smtClean="0"/>
              <a:t>IDLE’s</a:t>
            </a:r>
            <a:r>
              <a:rPr lang="en-GB" dirty="0" smtClean="0"/>
              <a:t> </a:t>
            </a:r>
            <a:r>
              <a:rPr lang="en-GB" b="1" dirty="0" smtClean="0"/>
              <a:t>Interactive Mode </a:t>
            </a:r>
            <a:r>
              <a:rPr lang="en-GB" dirty="0" smtClean="0"/>
              <a:t>type:</a:t>
            </a: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		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"Hello World!"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)</a:t>
            </a:r>
            <a:endParaRPr lang="en-GB" dirty="0"/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GB" dirty="0" smtClean="0"/>
              <a:t>Press </a:t>
            </a:r>
            <a:r>
              <a:rPr lang="en-GB" b="1" dirty="0" smtClean="0"/>
              <a:t>Enter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dirty="0" smtClean="0"/>
              <a:t>Try again with some different text.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90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3500438"/>
            <a:ext cx="8147050" cy="3024187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/>
          </a:p>
        </p:txBody>
      </p:sp>
      <p:sp>
        <p:nvSpPr>
          <p:cNvPr id="153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Getting it Wrong</a:t>
            </a:r>
          </a:p>
        </p:txBody>
      </p:sp>
      <p:sp>
        <p:nvSpPr>
          <p:cNvPr id="1536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Syntax Errors</a:t>
            </a:r>
          </a:p>
          <a:p>
            <a:pPr eaLnBrk="1" hangingPunct="1"/>
            <a:r>
              <a:rPr lang="en-GB" altLang="en-US" smtClean="0"/>
              <a:t>Experiment with errors</a:t>
            </a:r>
          </a:p>
          <a:p>
            <a:pPr eaLnBrk="1" hangingPunct="1"/>
            <a:endParaRPr lang="en-GB" altLang="en-US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9113" y="3573463"/>
            <a:ext cx="8229600" cy="302418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GB" dirty="0" smtClean="0"/>
              <a:t>In </a:t>
            </a:r>
            <a:r>
              <a:rPr lang="en-GB" b="1" dirty="0" smtClean="0"/>
              <a:t>IDLE </a:t>
            </a:r>
            <a:r>
              <a:rPr lang="en-GB" dirty="0" smtClean="0"/>
              <a:t>type the following erroneous lines:</a:t>
            </a: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dirty="0" err="1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primt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"Hello World</a:t>
            </a:r>
            <a:r>
              <a:rPr lang="en-GB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!"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"Hello World!"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		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(</a:t>
            </a:r>
            <a:r>
              <a:rPr lang="en-GB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Hello 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World</a:t>
            </a:r>
            <a:r>
              <a:rPr lang="en-GB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!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)</a:t>
            </a:r>
            <a:endParaRPr lang="en-GB" dirty="0"/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		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Hello World</a:t>
            </a:r>
            <a:r>
              <a:rPr lang="en-GB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!"</a:t>
            </a:r>
            <a:endParaRPr lang="en-GB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097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De-Bugging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Syntax Errors</a:t>
            </a:r>
          </a:p>
          <a:p>
            <a:pPr eaLnBrk="1" hangingPunct="1"/>
            <a:r>
              <a:rPr lang="en-GB" altLang="en-US" smtClean="0"/>
              <a:t>Reading interpreter feedback</a:t>
            </a:r>
          </a:p>
          <a:p>
            <a:pPr eaLnBrk="1" hangingPunct="1"/>
            <a:endParaRPr lang="en-GB" altLang="en-US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27088" y="3711575"/>
            <a:ext cx="7848600" cy="252571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Traceback</a:t>
            </a: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(most recent call last):</a:t>
            </a: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File </a:t>
            </a:r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"&lt;pyshell#0&gt;", line 1, in &lt;module&gt;</a:t>
            </a: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primt </a:t>
            </a:r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("Hello World</a:t>
            </a: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!")</a:t>
            </a: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err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NameError</a:t>
            </a: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: name 'primt' is not defined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734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Computer Bugs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The name ‘</a:t>
            </a:r>
            <a:r>
              <a:rPr lang="en-GB" altLang="en-US" b="1" smtClean="0"/>
              <a:t>Bug</a:t>
            </a:r>
            <a:r>
              <a:rPr lang="en-GB" altLang="en-US" smtClean="0"/>
              <a:t>’ refers to an error in a program</a:t>
            </a:r>
          </a:p>
          <a:p>
            <a:pPr eaLnBrk="1" hangingPunct="1"/>
            <a:r>
              <a:rPr lang="en-GB" altLang="en-US" smtClean="0"/>
              <a:t>Thought to come from a real bug that crawled into some cogs in an early machine and stopped it working</a:t>
            </a:r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666107">
            <a:off x="5261769" y="3728244"/>
            <a:ext cx="2328863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9337">
            <a:off x="1211263" y="4303713"/>
            <a:ext cx="86201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6454993">
            <a:off x="7337425" y="1031876"/>
            <a:ext cx="8604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279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770195"/>
            <a:ext cx="8147050" cy="4392612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/>
          </a:p>
        </p:txBody>
      </p:sp>
      <p:sp>
        <p:nvSpPr>
          <p:cNvPr id="184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Using Script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6592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In </a:t>
            </a:r>
            <a:r>
              <a:rPr lang="en-GB" b="1" dirty="0" smtClean="0"/>
              <a:t>IDLE</a:t>
            </a:r>
            <a:r>
              <a:rPr lang="en-GB" dirty="0" smtClean="0"/>
              <a:t>, Open a </a:t>
            </a:r>
            <a:r>
              <a:rPr lang="en-GB" b="1" dirty="0" smtClean="0"/>
              <a:t>New Window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Type:</a:t>
            </a: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/>
              <a:t>	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"What </a:t>
            </a:r>
            <a:r>
              <a:rPr lang="en-GB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is your name?"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)</a:t>
            </a:r>
            <a:endParaRPr lang="en-GB" dirty="0">
              <a:latin typeface="Consolas" pitchFamily="49" charset="0"/>
              <a:cs typeface="Consolas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	firstname 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= 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"Hello,"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,firstname)</a:t>
            </a:r>
            <a:endParaRPr lang="en-GB" dirty="0" smtClean="0">
              <a:latin typeface="Consolas" pitchFamily="49" charset="0"/>
              <a:cs typeface="Consolas" pitchFamily="49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GB" dirty="0" smtClean="0"/>
              <a:t>Save the program as </a:t>
            </a:r>
            <a:r>
              <a:rPr lang="en-GB" b="1" dirty="0" smtClean="0"/>
              <a:t>MyFirst.py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Press </a:t>
            </a:r>
            <a:r>
              <a:rPr lang="en-GB" b="1" dirty="0" smtClean="0"/>
              <a:t>F5</a:t>
            </a:r>
            <a:r>
              <a:rPr lang="en-GB" dirty="0" smtClean="0"/>
              <a:t> to ‘</a:t>
            </a:r>
            <a:r>
              <a:rPr lang="en-GB" b="1" dirty="0" smtClean="0"/>
              <a:t>Execute</a:t>
            </a:r>
            <a:r>
              <a:rPr lang="en-GB" dirty="0" smtClean="0"/>
              <a:t>’ or </a:t>
            </a:r>
            <a:r>
              <a:rPr lang="en-GB" b="1" dirty="0" smtClean="0"/>
              <a:t>Run</a:t>
            </a:r>
            <a:r>
              <a:rPr lang="en-GB" dirty="0" smtClean="0"/>
              <a:t> the program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824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What is a variable?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 smtClean="0"/>
              <a:t>A variable is a </a:t>
            </a:r>
            <a:r>
              <a:rPr lang="en-GB" altLang="en-US" sz="2400" b="1" smtClean="0"/>
              <a:t>location in memory </a:t>
            </a:r>
            <a:r>
              <a:rPr lang="en-GB" altLang="en-US" sz="2400" smtClean="0"/>
              <a:t>in which you can </a:t>
            </a:r>
            <a:r>
              <a:rPr lang="en-GB" altLang="en-US" sz="2400" b="1" smtClean="0"/>
              <a:t>temporarily</a:t>
            </a:r>
            <a:r>
              <a:rPr lang="en-GB" altLang="en-US" sz="2400" smtClean="0"/>
              <a:t> </a:t>
            </a:r>
            <a:r>
              <a:rPr lang="en-GB" altLang="en-US" sz="2400" b="1" smtClean="0"/>
              <a:t>store</a:t>
            </a:r>
            <a:r>
              <a:rPr lang="en-GB" altLang="en-US" sz="2400" smtClean="0"/>
              <a:t> </a:t>
            </a:r>
            <a:r>
              <a:rPr lang="en-GB" altLang="en-US" sz="2400" b="1" smtClean="0"/>
              <a:t>text or numbers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smtClean="0"/>
              <a:t>It is used like an empty box or the Memory function on a calculator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smtClean="0"/>
              <a:t>You can choose a name for the box (the “variable name”) and change its contents in your program 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smtClean="0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065588"/>
            <a:ext cx="4175125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97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Rules for Naming Variables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variable name can contain only numbers, letters and underscores</a:t>
            </a:r>
          </a:p>
          <a:p>
            <a:pPr eaLnBrk="1" hangingPunct="1"/>
            <a:r>
              <a:rPr lang="en-US" altLang="en-US" smtClean="0"/>
              <a:t>A variable name cannot start with a number</a:t>
            </a:r>
          </a:p>
          <a:p>
            <a:pPr eaLnBrk="1" hangingPunct="1"/>
            <a:r>
              <a:rPr lang="en-US" altLang="en-US" smtClean="0"/>
              <a:t>You can’t use a Python “reserved word” as a variable name – for example </a:t>
            </a:r>
            <a:r>
              <a:rPr lang="en-US" altLang="en-US" b="1" smtClean="0"/>
              <a:t>class</a:t>
            </a:r>
            <a:r>
              <a:rPr lang="en-US" altLang="en-US" smtClean="0"/>
              <a:t> is a reserved word so </a:t>
            </a:r>
            <a:r>
              <a:rPr lang="en-GB" altLang="zh-CN" smtClean="0"/>
              <a:t>class = input()</a:t>
            </a:r>
            <a:r>
              <a:rPr lang="en-US" altLang="zh-CN" smtClean="0"/>
              <a:t> will result in a syntax error. </a:t>
            </a:r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31698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Using a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	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"What is your name?"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)</a:t>
            </a:r>
            <a:endParaRPr lang="en-GB" dirty="0"/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firstname = 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"Hello,"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,firstname)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4295775"/>
            <a:ext cx="803275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59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3683661"/>
            <a:ext cx="8147050" cy="2389188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/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Adding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cs typeface="Consolas" pitchFamily="49" charset="0"/>
              </a:rPr>
              <a:t>Comments are useful to help understand your code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cs typeface="Consolas" pitchFamily="49" charset="0"/>
              </a:rPr>
              <a:t>They will not affect the way a program runs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cs typeface="Consolas" pitchFamily="49" charset="0"/>
              </a:rPr>
              <a:t>Comments appear in </a:t>
            </a: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red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cs typeface="Consolas" pitchFamily="49" charset="0"/>
              </a:rPr>
              <a:t>Comments have a preceding </a:t>
            </a: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#</a:t>
            </a:r>
            <a:r>
              <a:rPr lang="en-GB" dirty="0" smtClean="0">
                <a:cs typeface="Consolas" pitchFamily="49" charset="0"/>
              </a:rPr>
              <a:t> symbol</a:t>
            </a:r>
          </a:p>
          <a:p>
            <a:pPr marL="0" indent="0" eaLnBrk="1" fontAlgn="auto" hangingPunct="1">
              <a:lnSpc>
                <a:spcPct val="16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#firstname is a variable</a:t>
            </a:r>
            <a:b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</a:b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"What is your name?"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)</a:t>
            </a:r>
            <a:endParaRPr lang="en-GB" dirty="0"/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firstname = 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"Hello,"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,firstname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355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4038980"/>
            <a:ext cx="8147050" cy="1871663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/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cs typeface="Consolas" pitchFamily="49" charset="0"/>
              </a:rPr>
              <a:t>Functions are special keywords that do a specific job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cs typeface="Consolas" pitchFamily="49" charset="0"/>
              </a:rPr>
              <a:t>Functions appear in </a:t>
            </a: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purple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>
                <a:solidFill>
                  <a:srgbClr val="7030A0"/>
                </a:solidFill>
                <a:cs typeface="Consolas" pitchFamily="49" charset="0"/>
              </a:rPr>
              <a:t>print</a:t>
            </a:r>
            <a:r>
              <a:rPr lang="en-GB" dirty="0" smtClean="0">
                <a:cs typeface="Consolas" pitchFamily="49" charset="0"/>
              </a:rPr>
              <a:t>()</a:t>
            </a:r>
            <a:r>
              <a:rPr lang="en-GB" dirty="0" smtClean="0">
                <a:solidFill>
                  <a:srgbClr val="7030A0"/>
                </a:solidFill>
                <a:cs typeface="Consolas" pitchFamily="49" charset="0"/>
              </a:rPr>
              <a:t> </a:t>
            </a:r>
            <a:r>
              <a:rPr lang="en-GB" dirty="0" smtClean="0">
                <a:cs typeface="Consolas" pitchFamily="49" charset="0"/>
              </a:rPr>
              <a:t>and </a:t>
            </a:r>
            <a:r>
              <a:rPr lang="en-GB" dirty="0" smtClean="0">
                <a:solidFill>
                  <a:srgbClr val="7030A0"/>
                </a:solidFill>
                <a:cs typeface="Consolas" pitchFamily="49" charset="0"/>
              </a:rPr>
              <a:t>input</a:t>
            </a:r>
            <a:r>
              <a:rPr lang="en-GB" dirty="0" smtClean="0">
                <a:cs typeface="Consolas" pitchFamily="49" charset="0"/>
              </a:rPr>
              <a:t>()</a:t>
            </a:r>
            <a:r>
              <a:rPr lang="en-GB" dirty="0" smtClean="0">
                <a:solidFill>
                  <a:srgbClr val="7030A0"/>
                </a:solidFill>
                <a:cs typeface="Consolas" pitchFamily="49" charset="0"/>
              </a:rPr>
              <a:t> </a:t>
            </a:r>
            <a:r>
              <a:rPr lang="en-GB" dirty="0" smtClean="0">
                <a:cs typeface="Consolas" pitchFamily="49" charset="0"/>
              </a:rPr>
              <a:t>are examples of functions</a:t>
            </a:r>
          </a:p>
          <a:p>
            <a:pPr marL="0" indent="0" eaLnBrk="1" fontAlgn="auto" hangingPunct="1">
              <a:lnSpc>
                <a:spcPct val="16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"What is your name?"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)</a:t>
            </a:r>
            <a:endParaRPr lang="en-GB" dirty="0"/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firstname = 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()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nsolas" pitchFamily="49" charset="0"/>
                <a:cs typeface="Consolas" pitchFamily="49" charset="0"/>
              </a:rPr>
              <a:t>	</a:t>
            </a:r>
            <a:r>
              <a:rPr lang="en-GB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GB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"Hello,"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,firstname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756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GOnline PP Guid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PGOnline PP Guide Template</Template>
  <TotalTime>77</TotalTime>
  <Words>491</Words>
  <Application>Microsoft Office PowerPoint</Application>
  <PresentationFormat>On-screen Show (4:3)</PresentationFormat>
  <Paragraphs>103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Museo 300</vt:lpstr>
      <vt:lpstr>Museo 700</vt:lpstr>
      <vt:lpstr>Arial</vt:lpstr>
      <vt:lpstr>宋体</vt:lpstr>
      <vt:lpstr>Consolas</vt:lpstr>
      <vt:lpstr>PGOnline PP Guide Template</vt:lpstr>
      <vt:lpstr>Learning Objectives</vt:lpstr>
      <vt:lpstr>Frying an Egg</vt:lpstr>
      <vt:lpstr>Programming</vt:lpstr>
      <vt:lpstr>Frying an Egg</vt:lpstr>
      <vt:lpstr>Example Code</vt:lpstr>
      <vt:lpstr>Python Language</vt:lpstr>
      <vt:lpstr>Python’s Development Environment</vt:lpstr>
      <vt:lpstr>“Hello World!”</vt:lpstr>
      <vt:lpstr>Getting it Wrong</vt:lpstr>
      <vt:lpstr>De-Bugging</vt:lpstr>
      <vt:lpstr>Computer Bugs</vt:lpstr>
      <vt:lpstr>Using Script Mode</vt:lpstr>
      <vt:lpstr>What is a variable?</vt:lpstr>
      <vt:lpstr>Rules for Naming Variables</vt:lpstr>
      <vt:lpstr>Using a Variable</vt:lpstr>
      <vt:lpstr>Adding Comments</vt:lpstr>
      <vt:lpstr>Functions</vt:lpstr>
    </vt:vector>
  </TitlesOfParts>
  <Company>PG Online Ltd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Python 3</dc:title>
  <dc:creator/>
  <cp:lastModifiedBy>Shakir Laher</cp:lastModifiedBy>
  <cp:revision>11</cp:revision>
  <dcterms:created xsi:type="dcterms:W3CDTF">2013-11-02T09:11:42Z</dcterms:created>
  <dcterms:modified xsi:type="dcterms:W3CDTF">2016-09-01T07:16:37Z</dcterms:modified>
</cp:coreProperties>
</file>