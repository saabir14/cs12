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sldIdLst>
    <p:sldId id="256" r:id="rId2"/>
    <p:sldId id="259" r:id="rId3"/>
    <p:sldId id="260" r:id="rId4"/>
    <p:sldId id="262" r:id="rId5"/>
    <p:sldId id="264" r:id="rId6"/>
    <p:sldId id="265" r:id="rId7"/>
    <p:sldId id="266" r:id="rId8"/>
    <p:sldId id="267" r:id="rId9"/>
    <p:sldId id="268" r:id="rId10"/>
    <p:sldId id="269" r:id="rId11"/>
    <p:sldId id="271" r:id="rId12"/>
    <p:sldId id="270" r:id="rId13"/>
  </p:sldIdLst>
  <p:sldSz cx="9144000" cy="6858000" type="screen4x3"/>
  <p:notesSz cx="6858000" cy="9144000"/>
  <p:embeddedFontLs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Museo 700" panose="02000000000000000000" charset="0"/>
      <p:bold r:id="rId19"/>
    </p:embeddedFont>
    <p:embeddedFont>
      <p:font typeface="Museo 300" panose="02000000000000000000" charset="0"/>
      <p:regular r:id="rId20"/>
    </p:embeddedFont>
    <p:embeddedFont>
      <p:font typeface="Consolas" panose="020B0609020204030204" pitchFamily="49" charset="0"/>
      <p:regular r:id="rId21"/>
      <p:bold r:id="rId22"/>
      <p:italic r:id="rId23"/>
      <p:boldItalic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A5A96"/>
    <a:srgbClr val="05A5E6"/>
    <a:srgbClr val="25C6FF"/>
    <a:srgbClr val="16B9FA"/>
    <a:srgbClr val="001E32"/>
    <a:srgbClr val="520A2C"/>
    <a:srgbClr val="E63C8C"/>
    <a:srgbClr val="1B030E"/>
    <a:srgbClr val="144814"/>
    <a:srgbClr val="4DCD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5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D09395-45A9-48B0-9829-4584AC097AA1}" type="datetimeFigureOut">
              <a:rPr lang="en-GB" smtClean="0"/>
              <a:t>08/09/2016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A191F4-22EE-42C0-A4B6-9624624B52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7623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9526383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6600930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4822522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2675168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4683291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4706769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1648429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1078280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3546234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5220645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481194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3059" y="1662253"/>
            <a:ext cx="9144000" cy="103820"/>
          </a:xfrm>
          <a:prstGeom prst="rect">
            <a:avLst/>
          </a:prstGeom>
          <a:solidFill>
            <a:srgbClr val="001E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561A0A"/>
              </a:solidFill>
              <a:latin typeface="Museo 300" panose="02000000000000000000" pitchFamily="2" charset="0"/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1700808"/>
            <a:ext cx="9144000" cy="4464496"/>
          </a:xfrm>
          <a:prstGeom prst="rect">
            <a:avLst/>
          </a:prstGeom>
          <a:gradFill>
            <a:gsLst>
              <a:gs pos="88000">
                <a:srgbClr val="0A5A96"/>
              </a:gs>
              <a:gs pos="0">
                <a:srgbClr val="0A5A96">
                  <a:lumMod val="60000"/>
                </a:srgbClr>
              </a:gs>
              <a:gs pos="100000">
                <a:srgbClr val="0A5A96">
                  <a:lumMod val="60000"/>
                </a:srgbClr>
              </a:gs>
              <a:gs pos="14000">
                <a:srgbClr val="0A5A96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Museo 300" panose="02000000000000000000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371600" y="4747592"/>
            <a:ext cx="6400800" cy="985664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lang="en-GB" sz="4400" b="0" kern="1200" baseline="0" dirty="0">
                <a:solidFill>
                  <a:srgbClr val="00B0F0"/>
                </a:solidFill>
                <a:latin typeface="Museo 300" panose="02000000000000000000" pitchFamily="2" charset="0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Unit Name</a:t>
            </a:r>
            <a:endParaRPr lang="en-GB" dirty="0"/>
          </a:p>
        </p:txBody>
      </p:sp>
      <p:sp>
        <p:nvSpPr>
          <p:cNvPr id="17" name="Title 16"/>
          <p:cNvSpPr>
            <a:spLocks noGrp="1"/>
          </p:cNvSpPr>
          <p:nvPr>
            <p:ph type="title" hasCustomPrompt="1"/>
          </p:nvPr>
        </p:nvSpPr>
        <p:spPr>
          <a:xfrm>
            <a:off x="457200" y="2112938"/>
            <a:ext cx="8229600" cy="752499"/>
          </a:xfrm>
          <a:prstGeom prst="rect">
            <a:avLst/>
          </a:prstGeom>
        </p:spPr>
        <p:txBody>
          <a:bodyPr/>
          <a:lstStyle>
            <a:lvl1pPr>
              <a:defRPr lang="en-GB" sz="9600" b="1" kern="1200" dirty="0">
                <a:solidFill>
                  <a:schemeClr val="bg1"/>
                </a:solidFill>
                <a:latin typeface="Museo 700" panose="02000000000000000000" pitchFamily="2" charset="0"/>
                <a:ea typeface="+mj-ea"/>
                <a:cs typeface="+mj-cs"/>
              </a:defRPr>
            </a:lvl1pPr>
          </a:lstStyle>
          <a:p>
            <a:r>
              <a:rPr lang="en-US" dirty="0" smtClean="0"/>
              <a:t>Lesson 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492381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61851"/>
            <a:ext cx="8229600" cy="882973"/>
          </a:xfrm>
          <a:prstGeom prst="rect">
            <a:avLst/>
          </a:prstGeom>
        </p:spPr>
        <p:txBody>
          <a:bodyPr/>
          <a:lstStyle>
            <a:lvl1pPr algn="l">
              <a:defRPr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44824"/>
            <a:ext cx="8229600" cy="416592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4370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 rot="10800000">
            <a:off x="-70718" y="639105"/>
            <a:ext cx="9235440" cy="114202"/>
          </a:xfrm>
          <a:prstGeom prst="rect">
            <a:avLst/>
          </a:prstGeom>
          <a:solidFill>
            <a:srgbClr val="001E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002060"/>
              </a:solidFill>
              <a:latin typeface="Museo 300" panose="02000000000000000000" pitchFamily="2" charset="0"/>
            </a:endParaRPr>
          </a:p>
        </p:txBody>
      </p:sp>
      <p:sp>
        <p:nvSpPr>
          <p:cNvPr id="12" name="Rectangle 11"/>
          <p:cNvSpPr/>
          <p:nvPr/>
        </p:nvSpPr>
        <p:spPr>
          <a:xfrm rot="10800000">
            <a:off x="-67628" y="-1983"/>
            <a:ext cx="9235440" cy="712879"/>
          </a:xfrm>
          <a:prstGeom prst="rect">
            <a:avLst/>
          </a:prstGeom>
          <a:solidFill>
            <a:srgbClr val="0A5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Museo 300" panose="02000000000000000000" pitchFamily="2" charset="0"/>
            </a:endParaRPr>
          </a:p>
        </p:txBody>
      </p:sp>
      <p:sp>
        <p:nvSpPr>
          <p:cNvPr id="9" name="Text Box 3"/>
          <p:cNvSpPr txBox="1">
            <a:spLocks noChangeArrowheads="1"/>
          </p:cNvSpPr>
          <p:nvPr/>
        </p:nvSpPr>
        <p:spPr bwMode="auto">
          <a:xfrm>
            <a:off x="4564526" y="28487"/>
            <a:ext cx="4487944" cy="6350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GB" sz="18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Museo 300" panose="02000000000000000000" pitchFamily="2" charset="0"/>
                <a:cs typeface="Arial" pitchFamily="34" charset="0"/>
              </a:rPr>
              <a:t>Python: </a:t>
            </a:r>
            <a:r>
              <a:rPr kumimoji="0" lang="en-GB" sz="1800" b="0" i="0" u="none" strike="noStrike" cap="none" normalizeH="0" baseline="0" dirty="0" smtClean="0">
                <a:ln>
                  <a:noFill/>
                </a:ln>
                <a:solidFill>
                  <a:srgbClr val="25C6FF"/>
                </a:solidFill>
                <a:effectLst/>
                <a:latin typeface="Museo 300" panose="02000000000000000000" pitchFamily="2" charset="0"/>
                <a:cs typeface="Arial" pitchFamily="34" charset="0"/>
              </a:rPr>
              <a:t>Loops</a:t>
            </a:r>
            <a:r>
              <a:rPr kumimoji="0" lang="en-GB" sz="18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Museo 300" panose="02000000000000000000" pitchFamily="2" charset="0"/>
                <a:cs typeface="Arial" pitchFamily="34" charset="0"/>
              </a:rPr>
              <a:t> </a:t>
            </a:r>
            <a:br>
              <a:rPr kumimoji="0" lang="en-GB" sz="18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Museo 300" panose="02000000000000000000" pitchFamily="2" charset="0"/>
                <a:cs typeface="Arial" pitchFamily="34" charset="0"/>
              </a:rPr>
            </a:br>
            <a:r>
              <a:rPr kumimoji="0" lang="en-GB" sz="1800" b="0" i="0" u="none" strike="noStrike" cap="none" normalizeH="0" baseline="0" dirty="0" smtClean="0">
                <a:ln>
                  <a:noFill/>
                </a:ln>
                <a:solidFill>
                  <a:srgbClr val="25C6FF"/>
                </a:solidFill>
                <a:effectLst/>
                <a:latin typeface="Museo 300" panose="02000000000000000000" pitchFamily="2" charset="0"/>
                <a:cs typeface="Arial" pitchFamily="34" charset="0"/>
              </a:rPr>
              <a:t> </a:t>
            </a:r>
            <a:endParaRPr kumimoji="0" lang="en-US" sz="3200" b="0" i="0" u="none" strike="noStrike" cap="none" normalizeH="0" baseline="0" dirty="0" smtClean="0">
              <a:ln>
                <a:noFill/>
              </a:ln>
              <a:solidFill>
                <a:srgbClr val="25C6FF"/>
              </a:solidFill>
              <a:effectLst/>
              <a:latin typeface="Museo 300" panose="02000000000000000000" pitchFamily="2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9062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GB" smtClean="0"/>
              <a:t>Loops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437112"/>
            <a:ext cx="6400800" cy="985664"/>
          </a:xfrm>
        </p:spPr>
        <p:txBody>
          <a:bodyPr/>
          <a:lstStyle/>
          <a:p>
            <a:r>
              <a:rPr lang="en-GB" smtClean="0"/>
              <a:t>Python: Next steps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10522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algn="l" eaLnBrk="1" hangingPunct="1"/>
            <a:r>
              <a:rPr lang="en-GB" altLang="en-US" b="1" smtClean="0">
                <a:solidFill>
                  <a:srgbClr val="003142"/>
                </a:solidFill>
              </a:rPr>
              <a:t>Learning Objectives</a:t>
            </a:r>
          </a:p>
        </p:txBody>
      </p:sp>
      <p:sp>
        <p:nvSpPr>
          <p:cNvPr id="7171" name="Content Placeholder 1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dirty="0" smtClean="0"/>
              <a:t>Use a </a:t>
            </a:r>
            <a:r>
              <a:rPr lang="en-GB" b="1" dirty="0" smtClean="0"/>
              <a:t>while</a:t>
            </a:r>
            <a:r>
              <a:rPr lang="en-GB" dirty="0" smtClean="0"/>
              <a:t> loop to repeat a section of code</a:t>
            </a:r>
          </a:p>
          <a:p>
            <a:r>
              <a:rPr lang="en-GB" dirty="0" smtClean="0"/>
              <a:t>Use a </a:t>
            </a:r>
            <a:r>
              <a:rPr lang="en-GB" b="1" dirty="0" smtClean="0"/>
              <a:t>for </a:t>
            </a:r>
            <a:r>
              <a:rPr lang="en-GB" dirty="0" smtClean="0"/>
              <a:t>loop to repeat a section of code</a:t>
            </a:r>
          </a:p>
          <a:p>
            <a:r>
              <a:rPr lang="en-GB" dirty="0" smtClean="0"/>
              <a:t>Make a choice about which loop to use, and why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82973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 smtClean="0"/>
              <a:t>Starter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marL="0" indent="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GB" b="1" dirty="0" smtClean="0"/>
              <a:t>Reading Code</a:t>
            </a:r>
          </a:p>
          <a:p>
            <a:pPr>
              <a:lnSpc>
                <a:spcPct val="110000"/>
              </a:lnSpc>
              <a:defRPr/>
            </a:pPr>
            <a:r>
              <a:rPr lang="en-GB" dirty="0" smtClean="0"/>
              <a:t>What will print the </a:t>
            </a:r>
            <a:r>
              <a:rPr lang="en-GB" b="1" dirty="0" smtClean="0"/>
              <a:t>first </a:t>
            </a:r>
            <a:r>
              <a:rPr lang="en-GB" dirty="0" smtClean="0"/>
              <a:t>time this loop runs?</a:t>
            </a:r>
          </a:p>
          <a:p>
            <a:pPr>
              <a:lnSpc>
                <a:spcPct val="110000"/>
              </a:lnSpc>
              <a:defRPr/>
            </a:pPr>
            <a:r>
              <a:rPr lang="en-GB" dirty="0" smtClean="0"/>
              <a:t>How many times will this loop run?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91000"/>
            <a:ext cx="8255000" cy="128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376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57398" y="2780928"/>
            <a:ext cx="8147050" cy="2057400"/>
          </a:xfrm>
          <a:prstGeom prst="rect">
            <a:avLst/>
          </a:prstGeom>
          <a:solidFill>
            <a:srgbClr val="D1E0FF"/>
          </a:solidFill>
          <a:ln>
            <a:solidFill>
              <a:srgbClr val="000F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 smtClean="0"/>
              <a:t>while() Loops</a:t>
            </a:r>
          </a:p>
        </p:txBody>
      </p:sp>
      <p:sp>
        <p:nvSpPr>
          <p:cNvPr id="12291" name="Content Placeholder 2"/>
          <p:cNvSpPr>
            <a:spLocks noGrp="1"/>
          </p:cNvSpPr>
          <p:nvPr>
            <p:ph idx="1"/>
          </p:nvPr>
        </p:nvSpPr>
        <p:spPr>
          <a:xfrm>
            <a:off x="457200" y="1844825"/>
            <a:ext cx="8229600" cy="3024336"/>
          </a:xfrm>
        </p:spPr>
        <p:txBody>
          <a:bodyPr/>
          <a:lstStyle/>
          <a:p>
            <a:pPr eaLnBrk="1" hangingPunct="1">
              <a:buNone/>
            </a:pPr>
            <a:r>
              <a:rPr lang="en-GB" altLang="en-US" smtClean="0"/>
              <a:t>The pseudocode might be:</a:t>
            </a:r>
            <a:endParaRPr lang="en-GB" altLang="en-US"/>
          </a:p>
          <a:p>
            <a:pPr eaLnBrk="1" hangingPunct="1">
              <a:buNone/>
            </a:pPr>
            <a:endParaRPr lang="en-GB" altLang="en-US" dirty="0" smtClean="0"/>
          </a:p>
          <a:p>
            <a:pPr eaLnBrk="1" hangingPunct="1">
              <a:buNone/>
            </a:pPr>
            <a:r>
              <a:rPr lang="en-GB" altLang="en-US" sz="2800" dirty="0" smtClean="0">
                <a:solidFill>
                  <a:schemeClr val="accent6"/>
                </a:solidFill>
                <a:latin typeface="Consolas"/>
                <a:cs typeface="Consolas"/>
              </a:rPr>
              <a:t>while </a:t>
            </a:r>
            <a:r>
              <a:rPr lang="en-GB" altLang="en-US" sz="2800" dirty="0" err="1" smtClean="0">
                <a:latin typeface="Consolas"/>
                <a:cs typeface="Consolas"/>
              </a:rPr>
              <a:t>theGuess</a:t>
            </a:r>
            <a:r>
              <a:rPr lang="en-GB" altLang="en-US" sz="2800" dirty="0" smtClean="0">
                <a:latin typeface="Consolas"/>
                <a:cs typeface="Consolas"/>
              </a:rPr>
              <a:t> is not equal to </a:t>
            </a:r>
            <a:r>
              <a:rPr lang="en-GB" altLang="en-US" sz="2800" dirty="0" err="1" smtClean="0">
                <a:latin typeface="Consolas"/>
                <a:cs typeface="Consolas"/>
              </a:rPr>
              <a:t>theAnswer</a:t>
            </a:r>
            <a:r>
              <a:rPr lang="en-GB" altLang="en-US" sz="2800" dirty="0" smtClean="0">
                <a:latin typeface="Consolas"/>
                <a:cs typeface="Consolas"/>
              </a:rPr>
              <a:t>:</a:t>
            </a:r>
          </a:p>
          <a:p>
            <a:pPr eaLnBrk="1" hangingPunct="1">
              <a:buNone/>
            </a:pPr>
            <a:r>
              <a:rPr lang="en-GB" altLang="en-US" sz="2800" dirty="0" smtClean="0">
                <a:latin typeface="Consolas"/>
                <a:cs typeface="Consolas"/>
              </a:rPr>
              <a:t>	</a:t>
            </a:r>
            <a:r>
              <a:rPr lang="en-GB" altLang="en-US" sz="2800" dirty="0" smtClean="0">
                <a:solidFill>
                  <a:srgbClr val="7030A0"/>
                </a:solidFill>
                <a:latin typeface="Consolas"/>
                <a:cs typeface="Consolas"/>
              </a:rPr>
              <a:t>say</a:t>
            </a:r>
            <a:r>
              <a:rPr lang="en-GB" altLang="en-US" sz="2800" dirty="0" smtClean="0">
                <a:latin typeface="Consolas"/>
                <a:cs typeface="Consolas"/>
              </a:rPr>
              <a:t> </a:t>
            </a:r>
            <a:r>
              <a:rPr lang="en-GB" altLang="en-US" sz="2800" dirty="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That’s wrong, try again</a:t>
            </a:r>
          </a:p>
          <a:p>
            <a:pPr eaLnBrk="1" hangingPunct="1">
              <a:buNone/>
            </a:pPr>
            <a:r>
              <a:rPr lang="en-GB" altLang="en-US" sz="2800" dirty="0" smtClean="0">
                <a:latin typeface="Consolas"/>
                <a:cs typeface="Consolas"/>
              </a:rPr>
              <a:t>	</a:t>
            </a:r>
            <a:r>
              <a:rPr lang="en-GB" altLang="en-US" sz="2800" dirty="0" smtClean="0">
                <a:solidFill>
                  <a:srgbClr val="7030A0"/>
                </a:solidFill>
                <a:latin typeface="Consolas"/>
                <a:cs typeface="Consolas"/>
              </a:rPr>
              <a:t>listen </a:t>
            </a:r>
            <a:r>
              <a:rPr lang="en-GB" altLang="en-US" sz="2800" dirty="0" smtClean="0">
                <a:latin typeface="Consolas"/>
                <a:cs typeface="Consolas"/>
              </a:rPr>
              <a:t>for a new guess </a:t>
            </a:r>
          </a:p>
        </p:txBody>
      </p:sp>
    </p:spTree>
    <p:extLst>
      <p:ext uri="{BB962C8B-B14F-4D97-AF65-F5344CB8AC3E}">
        <p14:creationId xmlns:p14="http://schemas.microsoft.com/office/powerpoint/2010/main" val="103417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57200" y="3276600"/>
            <a:ext cx="8147050" cy="2057400"/>
          </a:xfrm>
          <a:prstGeom prst="rect">
            <a:avLst/>
          </a:prstGeom>
          <a:solidFill>
            <a:srgbClr val="D1E0FF"/>
          </a:solidFill>
          <a:ln>
            <a:solidFill>
              <a:srgbClr val="000F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 smtClean="0"/>
              <a:t>while() Loops</a:t>
            </a:r>
          </a:p>
        </p:txBody>
      </p:sp>
      <p:sp>
        <p:nvSpPr>
          <p:cNvPr id="1229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altLang="en-US" dirty="0" smtClean="0"/>
              <a:t>Open the file </a:t>
            </a:r>
            <a:r>
              <a:rPr lang="en-GB" altLang="en-US" dirty="0" err="1" smtClean="0">
                <a:solidFill>
                  <a:srgbClr val="25C6FF"/>
                </a:solidFill>
              </a:rPr>
              <a:t>guessGame.py</a:t>
            </a:r>
            <a:r>
              <a:rPr lang="en-GB" altLang="en-US" dirty="0" smtClean="0"/>
              <a:t> and use this code </a:t>
            </a:r>
            <a:r>
              <a:rPr lang="en-GB" altLang="en-US" smtClean="0"/>
              <a:t>to finish the program</a:t>
            </a:r>
            <a:endParaRPr lang="en-GB" altLang="en-US" dirty="0" smtClean="0"/>
          </a:p>
          <a:p>
            <a:pPr eaLnBrk="1" hangingPunct="1">
              <a:buNone/>
            </a:pPr>
            <a:endParaRPr lang="en-GB" altLang="en-US" dirty="0" smtClean="0"/>
          </a:p>
          <a:p>
            <a:pPr>
              <a:buNone/>
            </a:pPr>
            <a:r>
              <a:rPr lang="en-GB" altLang="en-US" sz="2800">
                <a:solidFill>
                  <a:schemeClr val="accent6"/>
                </a:solidFill>
                <a:latin typeface="Consolas"/>
                <a:cs typeface="Consolas"/>
              </a:rPr>
              <a:t>while </a:t>
            </a:r>
            <a:r>
              <a:rPr lang="en-GB" altLang="en-US" sz="2800" smtClean="0">
                <a:latin typeface="Consolas"/>
                <a:cs typeface="Consolas"/>
              </a:rPr>
              <a:t>guess </a:t>
            </a:r>
            <a:r>
              <a:rPr lang="en-GB" altLang="en-US" sz="2800" dirty="0" smtClean="0">
                <a:latin typeface="Consolas"/>
                <a:cs typeface="Consolas"/>
              </a:rPr>
              <a:t>!= answer:</a:t>
            </a:r>
          </a:p>
          <a:p>
            <a:pPr>
              <a:buNone/>
            </a:pPr>
            <a:r>
              <a:rPr lang="en-GB" altLang="en-US" sz="2800" dirty="0" smtClean="0">
                <a:latin typeface="Consolas"/>
                <a:cs typeface="Consolas"/>
              </a:rPr>
              <a:t>	</a:t>
            </a:r>
            <a:r>
              <a:rPr lang="en-GB" altLang="en-US" sz="2800" err="1" smtClean="0">
                <a:solidFill>
                  <a:srgbClr val="7030A0"/>
                </a:solidFill>
                <a:latin typeface="Consolas"/>
                <a:cs typeface="Consolas"/>
              </a:rPr>
              <a:t>print</a:t>
            </a:r>
            <a:r>
              <a:rPr lang="en-GB" altLang="en-US" sz="2800" smtClean="0">
                <a:latin typeface="Consolas"/>
                <a:cs typeface="Consolas"/>
              </a:rPr>
              <a:t>(</a:t>
            </a:r>
            <a:r>
              <a:rPr lang="en-GB" sz="280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"</a:t>
            </a:r>
            <a:r>
              <a:rPr lang="en-GB" altLang="en-US" sz="2800" smtClean="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That’s </a:t>
            </a:r>
            <a:r>
              <a:rPr lang="en-GB" altLang="en-US" sz="2800" dirty="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wrong, </a:t>
            </a:r>
            <a:r>
              <a:rPr lang="en-GB" altLang="en-US" sz="280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try </a:t>
            </a:r>
            <a:r>
              <a:rPr lang="en-GB" altLang="en-US" sz="2800" smtClean="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again</a:t>
            </a:r>
            <a:r>
              <a:rPr lang="en-GB" sz="280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"</a:t>
            </a:r>
            <a:r>
              <a:rPr lang="en-GB" altLang="en-US" sz="2800" smtClean="0">
                <a:latin typeface="Consolas"/>
                <a:cs typeface="Consolas"/>
              </a:rPr>
              <a:t>)</a:t>
            </a:r>
            <a:endParaRPr lang="en-GB" altLang="en-US" sz="2800" dirty="0" smtClean="0">
              <a:latin typeface="Consolas"/>
              <a:cs typeface="Consolas"/>
            </a:endParaRPr>
          </a:p>
          <a:p>
            <a:pPr>
              <a:buNone/>
            </a:pPr>
            <a:r>
              <a:rPr lang="en-GB" altLang="en-US" sz="2800" dirty="0" smtClean="0">
                <a:latin typeface="Consolas"/>
                <a:cs typeface="Consolas"/>
              </a:rPr>
              <a:t>	guess = </a:t>
            </a:r>
            <a:r>
              <a:rPr lang="en-GB" altLang="en-US" sz="2800" err="1" smtClean="0">
                <a:solidFill>
                  <a:srgbClr val="7030A0"/>
                </a:solidFill>
                <a:latin typeface="Consolas"/>
                <a:cs typeface="Consolas"/>
              </a:rPr>
              <a:t>input</a:t>
            </a:r>
            <a:r>
              <a:rPr lang="en-GB" altLang="en-US" sz="2800" smtClean="0">
                <a:latin typeface="Consolas"/>
                <a:cs typeface="Consolas"/>
              </a:rPr>
              <a:t>(</a:t>
            </a:r>
            <a:r>
              <a:rPr lang="en-GB" sz="280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"</a:t>
            </a:r>
            <a:r>
              <a:rPr lang="en-GB" altLang="en-US" sz="2800" smtClean="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Guess </a:t>
            </a:r>
            <a:r>
              <a:rPr lang="en-GB" altLang="en-US" sz="280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the </a:t>
            </a:r>
            <a:r>
              <a:rPr lang="en-GB" altLang="en-US" sz="2800" smtClean="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number</a:t>
            </a:r>
            <a:r>
              <a:rPr lang="en-GB" sz="280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"</a:t>
            </a:r>
            <a:r>
              <a:rPr lang="en-GB" altLang="en-US" sz="2800" smtClean="0">
                <a:latin typeface="Consolas"/>
                <a:cs typeface="Consolas"/>
              </a:rPr>
              <a:t>)</a:t>
            </a:r>
            <a:endParaRPr lang="en-GB" altLang="en-US" sz="2800" dirty="0" smtClean="0">
              <a:latin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830514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 smtClean="0"/>
              <a:t>for() Loops</a:t>
            </a:r>
          </a:p>
        </p:txBody>
      </p:sp>
      <p:sp>
        <p:nvSpPr>
          <p:cNvPr id="1229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altLang="en-US" dirty="0" smtClean="0"/>
              <a:t>With the guessing game, did you know how many times you would have to repeat the code until the player got it right?</a:t>
            </a:r>
          </a:p>
          <a:p>
            <a:pPr>
              <a:spcBef>
                <a:spcPts val="1800"/>
              </a:spcBef>
            </a:pPr>
            <a:r>
              <a:rPr lang="en-GB" altLang="en-US" smtClean="0"/>
              <a:t>while</a:t>
            </a:r>
            <a:r>
              <a:rPr lang="en-GB" altLang="en-US" dirty="0" smtClean="0"/>
              <a:t>() loops are great when </a:t>
            </a:r>
            <a:r>
              <a:rPr lang="en-GB" altLang="en-US" smtClean="0"/>
              <a:t>you don’t</a:t>
            </a:r>
            <a:endParaRPr lang="en-GB" altLang="en-US" dirty="0" smtClean="0"/>
          </a:p>
          <a:p>
            <a:pPr>
              <a:spcBef>
                <a:spcPts val="1800"/>
              </a:spcBef>
            </a:pPr>
            <a:r>
              <a:rPr lang="en-GB" altLang="en-US" smtClean="0"/>
              <a:t>for</a:t>
            </a:r>
            <a:r>
              <a:rPr lang="en-GB" altLang="en-US" dirty="0" smtClean="0"/>
              <a:t>() loops are perfect when you </a:t>
            </a:r>
            <a:r>
              <a:rPr lang="en-GB" altLang="en-US" b="1" dirty="0" smtClean="0">
                <a:solidFill>
                  <a:srgbClr val="25C6FF"/>
                </a:solidFill>
              </a:rPr>
              <a:t>DO</a:t>
            </a:r>
            <a:r>
              <a:rPr lang="en-GB" altLang="en-US" dirty="0" smtClean="0"/>
              <a:t> know how many times you want something </a:t>
            </a:r>
            <a:r>
              <a:rPr lang="en-GB" altLang="en-US" smtClean="0"/>
              <a:t>to repeat</a:t>
            </a:r>
            <a:endParaRPr lang="en-GB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476119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57200" y="3429000"/>
            <a:ext cx="8147050" cy="2397224"/>
          </a:xfrm>
          <a:prstGeom prst="rect">
            <a:avLst/>
          </a:prstGeom>
          <a:solidFill>
            <a:srgbClr val="D1E0FF"/>
          </a:solidFill>
          <a:ln>
            <a:solidFill>
              <a:srgbClr val="000F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 smtClean="0"/>
              <a:t>for() Loops</a:t>
            </a:r>
          </a:p>
        </p:txBody>
      </p:sp>
      <p:sp>
        <p:nvSpPr>
          <p:cNvPr id="12291" name="Content Placeholder 2"/>
          <p:cNvSpPr>
            <a:spLocks noGrp="1"/>
          </p:cNvSpPr>
          <p:nvPr>
            <p:ph idx="1"/>
          </p:nvPr>
        </p:nvSpPr>
        <p:spPr>
          <a:xfrm>
            <a:off x="457200" y="1844825"/>
            <a:ext cx="8229600" cy="2160239"/>
          </a:xfrm>
        </p:spPr>
        <p:txBody>
          <a:bodyPr/>
          <a:lstStyle/>
          <a:p>
            <a:r>
              <a:rPr lang="en-GB" altLang="en-US" smtClean="0"/>
              <a:t>Suppose you want to print </a:t>
            </a:r>
            <a:r>
              <a:rPr lang="en-GB" altLang="en-US" dirty="0" smtClean="0"/>
              <a:t>out all the numbers up </a:t>
            </a:r>
            <a:r>
              <a:rPr lang="en-GB" altLang="en-US" smtClean="0"/>
              <a:t>to 10:</a:t>
            </a:r>
            <a:endParaRPr lang="en-GB" altLang="en-US" dirty="0" smtClean="0"/>
          </a:p>
          <a:p>
            <a:pPr eaLnBrk="1" hangingPunct="1">
              <a:buNone/>
            </a:pPr>
            <a:endParaRPr lang="en-GB" altLang="en-US" dirty="0" smtClean="0"/>
          </a:p>
          <a:p>
            <a:pPr eaLnBrk="1" hangingPunct="1">
              <a:buNone/>
            </a:pPr>
            <a:r>
              <a:rPr lang="en-GB" altLang="en-US" b="1" dirty="0" smtClean="0"/>
              <a:t>Try this code:</a:t>
            </a:r>
          </a:p>
          <a:p>
            <a:pPr eaLnBrk="1" hangingPunct="1">
              <a:buNone/>
            </a:pPr>
            <a:endParaRPr lang="en-GB" altLang="en-US" dirty="0" smtClean="0"/>
          </a:p>
          <a:p>
            <a:pPr eaLnBrk="1" hangingPunct="1">
              <a:buNone/>
            </a:pPr>
            <a:r>
              <a:rPr lang="en-GB" altLang="en-US" sz="2800" dirty="0">
                <a:solidFill>
                  <a:schemeClr val="accent6"/>
                </a:solidFill>
                <a:latin typeface="Consolas"/>
                <a:cs typeface="Consolas"/>
              </a:rPr>
              <a:t>for</a:t>
            </a:r>
            <a:r>
              <a:rPr lang="en-GB" altLang="en-US" sz="2800" dirty="0" smtClean="0">
                <a:solidFill>
                  <a:srgbClr val="FF6600"/>
                </a:solidFill>
                <a:latin typeface="Consolas"/>
                <a:cs typeface="Consolas"/>
              </a:rPr>
              <a:t> </a:t>
            </a:r>
            <a:r>
              <a:rPr lang="en-GB" altLang="en-US" sz="2800" dirty="0" smtClean="0">
                <a:latin typeface="Consolas"/>
                <a:cs typeface="Consolas"/>
              </a:rPr>
              <a:t>counter </a:t>
            </a:r>
            <a:r>
              <a:rPr lang="en-GB" altLang="en-US" sz="2800" dirty="0">
                <a:solidFill>
                  <a:schemeClr val="accent6"/>
                </a:solidFill>
                <a:latin typeface="Consolas"/>
                <a:cs typeface="Consolas"/>
              </a:rPr>
              <a:t>in</a:t>
            </a:r>
            <a:r>
              <a:rPr lang="en-GB" altLang="en-US" sz="2800" dirty="0" smtClean="0">
                <a:solidFill>
                  <a:srgbClr val="FF6600"/>
                </a:solidFill>
                <a:latin typeface="Consolas"/>
                <a:cs typeface="Consolas"/>
              </a:rPr>
              <a:t> </a:t>
            </a:r>
            <a:r>
              <a:rPr lang="en-GB" altLang="en-US" sz="2800" dirty="0" smtClean="0">
                <a:solidFill>
                  <a:srgbClr val="7030A0"/>
                </a:solidFill>
                <a:latin typeface="Consolas"/>
                <a:cs typeface="Consolas"/>
              </a:rPr>
              <a:t>range</a:t>
            </a:r>
            <a:r>
              <a:rPr lang="en-GB" altLang="en-US" sz="2800" dirty="0" smtClean="0">
                <a:latin typeface="Consolas"/>
                <a:cs typeface="Consolas"/>
              </a:rPr>
              <a:t>(10):</a:t>
            </a:r>
          </a:p>
          <a:p>
            <a:pPr eaLnBrk="1" hangingPunct="1">
              <a:buNone/>
            </a:pPr>
            <a:r>
              <a:rPr lang="en-GB" altLang="en-US" sz="2800" dirty="0" smtClean="0">
                <a:latin typeface="Consolas"/>
                <a:cs typeface="Consolas"/>
              </a:rPr>
              <a:t>	</a:t>
            </a:r>
            <a:r>
              <a:rPr lang="en-GB" altLang="en-US" sz="2800" dirty="0" err="1" smtClean="0">
                <a:solidFill>
                  <a:srgbClr val="7030A0"/>
                </a:solidFill>
                <a:latin typeface="Consolas"/>
                <a:cs typeface="Consolas"/>
              </a:rPr>
              <a:t>print</a:t>
            </a:r>
            <a:r>
              <a:rPr lang="en-GB" altLang="en-US" sz="2800" dirty="0" err="1" smtClean="0">
                <a:latin typeface="Consolas"/>
                <a:cs typeface="Consolas"/>
              </a:rPr>
              <a:t>(counter</a:t>
            </a:r>
            <a:r>
              <a:rPr lang="en-GB" altLang="en-US" sz="2800" dirty="0" smtClean="0">
                <a:latin typeface="Consolas"/>
                <a:cs typeface="Consolas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20983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 smtClean="0"/>
              <a:t>for() Loops</a:t>
            </a:r>
          </a:p>
        </p:txBody>
      </p:sp>
      <p:sp>
        <p:nvSpPr>
          <p:cNvPr id="12291" name="Content Placeholder 2"/>
          <p:cNvSpPr>
            <a:spLocks noGrp="1"/>
          </p:cNvSpPr>
          <p:nvPr>
            <p:ph idx="1"/>
          </p:nvPr>
        </p:nvSpPr>
        <p:spPr>
          <a:xfrm>
            <a:off x="457200" y="1844825"/>
            <a:ext cx="8229600" cy="2952328"/>
          </a:xfrm>
        </p:spPr>
        <p:txBody>
          <a:bodyPr/>
          <a:lstStyle/>
          <a:p>
            <a:r>
              <a:rPr lang="en-GB" altLang="en-US" dirty="0" smtClean="0"/>
              <a:t>Did it work?</a:t>
            </a:r>
          </a:p>
          <a:p>
            <a:r>
              <a:rPr lang="en-GB" altLang="en-US" smtClean="0"/>
              <a:t>Remember </a:t>
            </a:r>
            <a:r>
              <a:rPr lang="en-GB" altLang="en-US" dirty="0" smtClean="0"/>
              <a:t>that computers count </a:t>
            </a:r>
            <a:r>
              <a:rPr lang="en-GB" altLang="en-US" smtClean="0"/>
              <a:t>from 0</a:t>
            </a:r>
            <a:endParaRPr lang="en-GB" altLang="en-US" dirty="0" smtClean="0"/>
          </a:p>
          <a:p>
            <a:r>
              <a:rPr lang="en-GB" altLang="en-US" smtClean="0"/>
              <a:t>Try </a:t>
            </a:r>
            <a:r>
              <a:rPr lang="en-GB" altLang="en-US" dirty="0" smtClean="0"/>
              <a:t>changing the program so that it prints out all the numbers from 0 </a:t>
            </a:r>
            <a:r>
              <a:rPr lang="en-GB" altLang="en-US" smtClean="0"/>
              <a:t>to 10</a:t>
            </a:r>
            <a:endParaRPr lang="en-GB" altLang="en-US" dirty="0" smtClean="0"/>
          </a:p>
          <a:p>
            <a:r>
              <a:rPr lang="en-GB" altLang="en-US" dirty="0" smtClean="0"/>
              <a:t>How about from 0 to 25?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23244" y="4590364"/>
            <a:ext cx="9113392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3800" b="1" smtClean="0">
                <a:solidFill>
                  <a:srgbClr val="25C6FF"/>
                </a:solidFill>
              </a:rPr>
              <a:t>0</a:t>
            </a:r>
            <a:r>
              <a:rPr lang="en-GB" sz="13800" b="1" smtClean="0">
                <a:solidFill>
                  <a:srgbClr val="0A5A96"/>
                </a:solidFill>
              </a:rPr>
              <a:t>,1,2,3,4,5…</a:t>
            </a:r>
            <a:endParaRPr lang="en-GB" sz="13800" b="1">
              <a:solidFill>
                <a:srgbClr val="0A5A9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3358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57200" y="3429000"/>
            <a:ext cx="8147050" cy="2667000"/>
          </a:xfrm>
          <a:prstGeom prst="rect">
            <a:avLst/>
          </a:prstGeom>
          <a:solidFill>
            <a:srgbClr val="D1E0FF"/>
          </a:solidFill>
          <a:ln>
            <a:solidFill>
              <a:srgbClr val="000F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 smtClean="0"/>
              <a:t>for() Loops</a:t>
            </a:r>
          </a:p>
        </p:txBody>
      </p:sp>
      <p:sp>
        <p:nvSpPr>
          <p:cNvPr id="1229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None/>
            </a:pPr>
            <a:r>
              <a:rPr lang="en-GB" altLang="en-US" dirty="0" smtClean="0"/>
              <a:t>If you run a for() loop using 2 numbers you can change the way it works.</a:t>
            </a:r>
          </a:p>
          <a:p>
            <a:pPr eaLnBrk="1" hangingPunct="1">
              <a:buNone/>
            </a:pPr>
            <a:endParaRPr lang="en-GB" altLang="en-US" dirty="0" smtClean="0"/>
          </a:p>
          <a:p>
            <a:pPr eaLnBrk="1" hangingPunct="1">
              <a:buNone/>
            </a:pPr>
            <a:r>
              <a:rPr lang="en-GB" altLang="en-US" b="1" dirty="0" smtClean="0"/>
              <a:t>Try this code:</a:t>
            </a:r>
          </a:p>
          <a:p>
            <a:pPr eaLnBrk="1" hangingPunct="1">
              <a:buNone/>
            </a:pPr>
            <a:endParaRPr lang="en-GB" altLang="en-US" dirty="0" smtClean="0"/>
          </a:p>
          <a:p>
            <a:pPr eaLnBrk="1" hangingPunct="1">
              <a:buNone/>
            </a:pPr>
            <a:r>
              <a:rPr lang="en-GB" altLang="en-US" sz="2800" dirty="0" smtClean="0">
                <a:solidFill>
                  <a:srgbClr val="FF6600"/>
                </a:solidFill>
                <a:latin typeface="Consolas"/>
                <a:cs typeface="Consolas"/>
              </a:rPr>
              <a:t>for </a:t>
            </a:r>
            <a:r>
              <a:rPr lang="en-GB" altLang="en-US" sz="2800" dirty="0" smtClean="0">
                <a:latin typeface="Consolas"/>
                <a:cs typeface="Consolas"/>
              </a:rPr>
              <a:t>counter </a:t>
            </a:r>
            <a:r>
              <a:rPr lang="en-GB" altLang="en-US" sz="2800" dirty="0" smtClean="0">
                <a:solidFill>
                  <a:srgbClr val="FF6600"/>
                </a:solidFill>
                <a:latin typeface="Consolas"/>
                <a:cs typeface="Consolas"/>
              </a:rPr>
              <a:t>in </a:t>
            </a:r>
            <a:r>
              <a:rPr lang="en-GB" altLang="en-US" sz="2800" dirty="0" smtClean="0">
                <a:solidFill>
                  <a:srgbClr val="7030A0"/>
                </a:solidFill>
                <a:latin typeface="Consolas"/>
                <a:cs typeface="Consolas"/>
              </a:rPr>
              <a:t>range</a:t>
            </a:r>
            <a:r>
              <a:rPr lang="en-GB" altLang="en-US" sz="2800" dirty="0" smtClean="0">
                <a:latin typeface="Consolas"/>
                <a:cs typeface="Consolas"/>
              </a:rPr>
              <a:t>(5,10):</a:t>
            </a:r>
          </a:p>
          <a:p>
            <a:pPr eaLnBrk="1" hangingPunct="1">
              <a:buNone/>
            </a:pPr>
            <a:r>
              <a:rPr lang="en-GB" altLang="en-US" sz="2800" dirty="0" smtClean="0">
                <a:latin typeface="Consolas"/>
                <a:cs typeface="Consolas"/>
              </a:rPr>
              <a:t>	</a:t>
            </a:r>
            <a:r>
              <a:rPr lang="en-GB" altLang="en-US" sz="2800" dirty="0" err="1" smtClean="0">
                <a:solidFill>
                  <a:srgbClr val="7030A0"/>
                </a:solidFill>
                <a:latin typeface="Consolas"/>
                <a:cs typeface="Consolas"/>
              </a:rPr>
              <a:t>print</a:t>
            </a:r>
            <a:r>
              <a:rPr lang="en-GB" altLang="en-US" sz="2800" dirty="0" err="1" smtClean="0">
                <a:latin typeface="Consolas"/>
                <a:cs typeface="Consolas"/>
              </a:rPr>
              <a:t>(counter</a:t>
            </a:r>
            <a:r>
              <a:rPr lang="en-GB" altLang="en-US" sz="2800" dirty="0" smtClean="0">
                <a:latin typeface="Consolas"/>
                <a:cs typeface="Consolas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56262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 smtClean="0"/>
              <a:t>for() Loops</a:t>
            </a:r>
          </a:p>
        </p:txBody>
      </p:sp>
      <p:sp>
        <p:nvSpPr>
          <p:cNvPr id="1229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None/>
            </a:pPr>
            <a:r>
              <a:rPr lang="en-GB" altLang="en-US" dirty="0" smtClean="0"/>
              <a:t>What happened?</a:t>
            </a:r>
          </a:p>
          <a:p>
            <a:pPr eaLnBrk="1" hangingPunct="1">
              <a:buNone/>
            </a:pPr>
            <a:r>
              <a:rPr lang="en-GB" altLang="en-US" dirty="0" smtClean="0"/>
              <a:t> </a:t>
            </a:r>
          </a:p>
          <a:p>
            <a:pPr eaLnBrk="1" hangingPunct="1">
              <a:buNone/>
            </a:pPr>
            <a:r>
              <a:rPr lang="en-GB" altLang="en-US" dirty="0" smtClean="0"/>
              <a:t>Try changing the program so that it prints:</a:t>
            </a:r>
          </a:p>
          <a:p>
            <a:r>
              <a:rPr lang="en-GB" altLang="en-US" smtClean="0"/>
              <a:t>all </a:t>
            </a:r>
            <a:r>
              <a:rPr lang="en-GB" altLang="en-US" dirty="0" smtClean="0"/>
              <a:t>the numbers from 10 to 20</a:t>
            </a:r>
          </a:p>
          <a:p>
            <a:r>
              <a:rPr lang="en-GB" altLang="en-US" smtClean="0"/>
              <a:t>all </a:t>
            </a:r>
            <a:r>
              <a:rPr lang="en-GB" altLang="en-US" dirty="0" smtClean="0"/>
              <a:t>the numbers from 17 to 31</a:t>
            </a:r>
          </a:p>
        </p:txBody>
      </p:sp>
    </p:spTree>
    <p:extLst>
      <p:ext uri="{BB962C8B-B14F-4D97-AF65-F5344CB8AC3E}">
        <p14:creationId xmlns:p14="http://schemas.microsoft.com/office/powerpoint/2010/main" val="2391380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 smtClean="0"/>
              <a:t>Worksheet </a:t>
            </a:r>
            <a:r>
              <a:rPr lang="en-GB" altLang="en-US" dirty="0" smtClean="0"/>
              <a:t>3</a:t>
            </a:r>
            <a:endParaRPr lang="en-GB" altLang="en-US" dirty="0" smtClean="0"/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altLang="en-US" dirty="0" smtClean="0"/>
              <a:t>Complete the worksheet to check your knowledge of </a:t>
            </a:r>
            <a:r>
              <a:rPr lang="en-GB" altLang="en-US" b="1" dirty="0" smtClean="0"/>
              <a:t>while()</a:t>
            </a:r>
            <a:r>
              <a:rPr lang="en-GB" altLang="en-US" dirty="0" smtClean="0"/>
              <a:t> loops </a:t>
            </a:r>
            <a:r>
              <a:rPr lang="en-GB" altLang="en-US" smtClean="0"/>
              <a:t>and </a:t>
            </a:r>
            <a:r>
              <a:rPr lang="en-GB" altLang="en-US" b="1" smtClean="0"/>
              <a:t>for() </a:t>
            </a:r>
            <a:r>
              <a:rPr lang="en-GB" altLang="en-US" smtClean="0"/>
              <a:t>loops</a:t>
            </a:r>
            <a:endParaRPr lang="en-GB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357479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smtClean="0"/>
              <a:t>Worksheet </a:t>
            </a:r>
            <a:r>
              <a:rPr lang="en-GB" altLang="en-US"/>
              <a:t>4</a:t>
            </a:r>
            <a:endParaRPr lang="en-GB" altLang="en-US" dirty="0" smtClean="0"/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>
          <a:xfrm>
            <a:off x="457200" y="1844824"/>
            <a:ext cx="6131024" cy="4320479"/>
          </a:xfrm>
        </p:spPr>
        <p:txBody>
          <a:bodyPr/>
          <a:lstStyle/>
          <a:p>
            <a:pPr marL="0" indent="0">
              <a:buNone/>
            </a:pPr>
            <a:r>
              <a:rPr lang="en-GB" altLang="en-US" dirty="0" smtClean="0"/>
              <a:t>Imagine asking for 1p per week </a:t>
            </a:r>
            <a:r>
              <a:rPr lang="en-GB" altLang="en-US" smtClean="0"/>
              <a:t>pocket money</a:t>
            </a:r>
            <a:endParaRPr lang="en-GB" altLang="en-US" dirty="0" smtClean="0"/>
          </a:p>
          <a:p>
            <a:pPr marL="0" indent="0">
              <a:spcBef>
                <a:spcPts val="2400"/>
              </a:spcBef>
              <a:buNone/>
            </a:pPr>
            <a:r>
              <a:rPr lang="en-GB" altLang="en-US" smtClean="0"/>
              <a:t>Next </a:t>
            </a:r>
            <a:r>
              <a:rPr lang="en-GB" altLang="en-US" dirty="0" smtClean="0"/>
              <a:t>week it will go up to 2p and then </a:t>
            </a:r>
            <a:r>
              <a:rPr lang="en-GB" altLang="en-US" smtClean="0"/>
              <a:t>to 4p</a:t>
            </a:r>
            <a:endParaRPr lang="en-GB" altLang="en-US" dirty="0" smtClean="0"/>
          </a:p>
          <a:p>
            <a:pPr marL="0" indent="0">
              <a:spcBef>
                <a:spcPts val="2400"/>
              </a:spcBef>
              <a:buNone/>
            </a:pPr>
            <a:r>
              <a:rPr lang="en-GB" altLang="en-US" smtClean="0"/>
              <a:t>This </a:t>
            </a:r>
            <a:r>
              <a:rPr lang="en-GB" altLang="en-US" dirty="0" smtClean="0"/>
              <a:t>might sound like a bad deal, </a:t>
            </a:r>
            <a:r>
              <a:rPr lang="en-GB" altLang="en-US" smtClean="0"/>
              <a:t>but complete the </a:t>
            </a:r>
            <a:r>
              <a:rPr lang="en-GB" altLang="en-US" dirty="0" smtClean="0"/>
              <a:t>tasks on the worksheet and you might find out it will work out better than </a:t>
            </a:r>
            <a:r>
              <a:rPr lang="en-GB" altLang="en-US" smtClean="0"/>
              <a:t>you think</a:t>
            </a:r>
            <a:endParaRPr lang="en-GB" altLang="en-US" dirty="0" smtClean="0"/>
          </a:p>
        </p:txBody>
      </p:sp>
      <p:pic>
        <p:nvPicPr>
          <p:cNvPr id="1026" name="Picture 2" descr="http://www.prospects.ac.uk/assets/assets/images/features/pound_coins_180411.JP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7593" b="94964" l="9954" r="97068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4475" t="7479" r="6994" b="7515"/>
          <a:stretch/>
        </p:blipFill>
        <p:spPr bwMode="auto">
          <a:xfrm>
            <a:off x="6017015" y="1432773"/>
            <a:ext cx="2998418" cy="5555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9335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GOnline PP Guide 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PGOnline PP Guide Template</Template>
  <TotalTime>30</TotalTime>
  <Words>338</Words>
  <Application>Microsoft Office PowerPoint</Application>
  <PresentationFormat>On-screen Show (4:3)</PresentationFormat>
  <Paragraphs>58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Calibri</vt:lpstr>
      <vt:lpstr>Museo 700</vt:lpstr>
      <vt:lpstr>Museo 300</vt:lpstr>
      <vt:lpstr>Arial</vt:lpstr>
      <vt:lpstr>Consolas</vt:lpstr>
      <vt:lpstr>PGOnline PP Guide Template</vt:lpstr>
      <vt:lpstr>Loops</vt:lpstr>
      <vt:lpstr>Learning Objectives</vt:lpstr>
      <vt:lpstr>Starter</vt:lpstr>
      <vt:lpstr>while() Loops</vt:lpstr>
      <vt:lpstr>while() Loops</vt:lpstr>
      <vt:lpstr>for() Loops</vt:lpstr>
      <vt:lpstr>for() Loops</vt:lpstr>
      <vt:lpstr>for() Loops</vt:lpstr>
      <vt:lpstr>for() Loops</vt:lpstr>
      <vt:lpstr>for() Loops</vt:lpstr>
      <vt:lpstr>Worksheet 3</vt:lpstr>
      <vt:lpstr>Worksheet 4</vt:lpstr>
    </vt:vector>
  </TitlesOfParts>
  <Company>PG Online Ltd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Loops</dc:title>
  <dc:creator/>
  <cp:lastModifiedBy>Shakir Laher</cp:lastModifiedBy>
  <cp:revision>7</cp:revision>
  <dcterms:created xsi:type="dcterms:W3CDTF">2014-03-08T15:06:24Z</dcterms:created>
  <dcterms:modified xsi:type="dcterms:W3CDTF">2016-09-08T05:53:19Z</dcterms:modified>
</cp:coreProperties>
</file>