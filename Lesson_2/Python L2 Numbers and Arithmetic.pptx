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</p:sldIdLst>
  <p:sldSz cx="9144000" cy="6858000" type="screen4x3"/>
  <p:notesSz cx="6858000" cy="9144000"/>
  <p:embeddedFontLst>
    <p:embeddedFont>
      <p:font typeface="Museo 300" panose="02000000000000000000" charset="0"/>
      <p:regular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Consolas" panose="020B0609020204030204" pitchFamily="49" charset="0"/>
      <p:regular r:id="rId24"/>
      <p:bold r:id="rId25"/>
      <p:italic r:id="rId26"/>
      <p:boldItalic r:id="rId27"/>
    </p:embeddedFont>
    <p:embeddedFont>
      <p:font typeface="Museo 700" panose="02000000000000000000" charset="0"/>
      <p:bold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F2E"/>
    <a:srgbClr val="B3CCFF"/>
    <a:srgbClr val="002060"/>
    <a:srgbClr val="1B70ED"/>
    <a:srgbClr val="0C2026"/>
    <a:srgbClr val="31859C"/>
    <a:srgbClr val="003F46"/>
    <a:srgbClr val="420614"/>
    <a:srgbClr val="780A24"/>
    <a:srgbClr val="F32D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F33025-1853-470F-9319-4297926956F8}" type="datetimeFigureOut">
              <a:rPr lang="en-GB" smtClean="0"/>
              <a:t>01/09/2016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F856F6-0D9D-45B3-AE03-33C2D4B64F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9590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041655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1984196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0008555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0963301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1880059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0365520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1061840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8334114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0180918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8488620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9844673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1520143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2805291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7298605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348661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3059" y="1662253"/>
            <a:ext cx="9144000" cy="1038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Museo 300" panose="02000000000000000000" pitchFamily="2" charset="0"/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1700808"/>
            <a:ext cx="9144000" cy="4464496"/>
          </a:xfrm>
          <a:prstGeom prst="rect">
            <a:avLst/>
          </a:prstGeom>
          <a:gradFill>
            <a:gsLst>
              <a:gs pos="88000">
                <a:srgbClr val="1B70ED"/>
              </a:gs>
              <a:gs pos="0">
                <a:srgbClr val="1B70ED">
                  <a:lumMod val="70000"/>
                </a:srgbClr>
              </a:gs>
              <a:gs pos="100000">
                <a:srgbClr val="1B70ED">
                  <a:lumMod val="70000"/>
                </a:srgbClr>
              </a:gs>
              <a:gs pos="14000">
                <a:srgbClr val="1B70E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Museo 300" panose="020000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4747592"/>
            <a:ext cx="6400800" cy="98566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en-GB" sz="4400" b="0" kern="1200" baseline="0" dirty="0">
                <a:solidFill>
                  <a:srgbClr val="002060"/>
                </a:solidFill>
                <a:latin typeface="Museo 300" panose="02000000000000000000" pitchFamily="2" charset="0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Unit Name</a:t>
            </a:r>
            <a:endParaRPr lang="en-GB" dirty="0"/>
          </a:p>
        </p:txBody>
      </p:sp>
      <p:sp>
        <p:nvSpPr>
          <p:cNvPr id="17" name="Title 16"/>
          <p:cNvSpPr>
            <a:spLocks noGrp="1"/>
          </p:cNvSpPr>
          <p:nvPr>
            <p:ph type="title" hasCustomPrompt="1"/>
          </p:nvPr>
        </p:nvSpPr>
        <p:spPr>
          <a:xfrm>
            <a:off x="457200" y="2112938"/>
            <a:ext cx="8229600" cy="752499"/>
          </a:xfrm>
          <a:prstGeom prst="rect">
            <a:avLst/>
          </a:prstGeom>
        </p:spPr>
        <p:txBody>
          <a:bodyPr/>
          <a:lstStyle>
            <a:lvl1pPr>
              <a:defRPr lang="en-GB" sz="9600" b="1" kern="1200" dirty="0">
                <a:solidFill>
                  <a:schemeClr val="bg1"/>
                </a:solidFill>
                <a:latin typeface="Museo 700" panose="02000000000000000000" pitchFamily="2" charset="0"/>
                <a:ea typeface="+mj-ea"/>
                <a:cs typeface="+mj-cs"/>
              </a:defRPr>
            </a:lvl1pPr>
          </a:lstStyle>
          <a:p>
            <a:r>
              <a:rPr lang="en-US" dirty="0" smtClean="0"/>
              <a:t>Lesson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9238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61851"/>
            <a:ext cx="8229600" cy="882973"/>
          </a:xfrm>
          <a:prstGeom prst="rect">
            <a:avLst/>
          </a:prstGeom>
        </p:spPr>
        <p:txBody>
          <a:bodyPr/>
          <a:lstStyle>
            <a:lvl1pPr algn="l">
              <a:defRPr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44824"/>
            <a:ext cx="8229600" cy="416592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4370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 rot="10800000">
            <a:off x="-70718" y="639105"/>
            <a:ext cx="9235440" cy="114202"/>
          </a:xfrm>
          <a:prstGeom prst="rect">
            <a:avLst/>
          </a:prstGeom>
          <a:solidFill>
            <a:srgbClr val="0C20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002060"/>
              </a:solidFill>
              <a:latin typeface="Museo 300" panose="02000000000000000000" pitchFamily="2" charset="0"/>
            </a:endParaRPr>
          </a:p>
        </p:txBody>
      </p:sp>
      <p:sp>
        <p:nvSpPr>
          <p:cNvPr id="12" name="Rectangle 11"/>
          <p:cNvSpPr/>
          <p:nvPr/>
        </p:nvSpPr>
        <p:spPr>
          <a:xfrm rot="10800000">
            <a:off x="-67628" y="-1983"/>
            <a:ext cx="9235440" cy="712879"/>
          </a:xfrm>
          <a:prstGeom prst="rect">
            <a:avLst/>
          </a:prstGeom>
          <a:solidFill>
            <a:srgbClr val="1B70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Museo 300" panose="02000000000000000000" pitchFamily="2" charset="0"/>
            </a:endParaRPr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4564526" y="28487"/>
            <a:ext cx="4487944" cy="635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GB" sz="18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Museo 300" panose="02000000000000000000" pitchFamily="2" charset="0"/>
                <a:cs typeface="Arial" pitchFamily="34" charset="0"/>
              </a:rPr>
              <a:t>Introduction to Python</a:t>
            </a:r>
            <a:br>
              <a:rPr kumimoji="0" lang="en-GB" sz="18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Museo 300" panose="02000000000000000000" pitchFamily="2" charset="0"/>
                <a:cs typeface="Arial" pitchFamily="34" charset="0"/>
              </a:rPr>
            </a:br>
            <a:r>
              <a:rPr kumimoji="0" lang="en-GB" sz="1800" b="0" i="0" u="none" strike="noStrike" cap="none" normalizeH="0" baseline="0" dirty="0" smtClean="0">
                <a:ln>
                  <a:noFill/>
                </a:ln>
                <a:solidFill>
                  <a:srgbClr val="B3CCFF"/>
                </a:solidFill>
                <a:effectLst/>
                <a:latin typeface="Museo 300" panose="02000000000000000000" pitchFamily="2" charset="0"/>
                <a:cs typeface="Arial" pitchFamily="34" charset="0"/>
              </a:rPr>
              <a:t>L2 Numbers and Arithmetic</a:t>
            </a:r>
            <a:endParaRPr kumimoji="0" lang="en-US" sz="3200" b="0" i="0" u="none" strike="noStrike" cap="none" normalizeH="0" baseline="0" dirty="0" smtClean="0">
              <a:ln>
                <a:noFill/>
              </a:ln>
              <a:solidFill>
                <a:srgbClr val="B3CCFF"/>
              </a:solidFill>
              <a:effectLst/>
              <a:latin typeface="Museo 300" panose="02000000000000000000" pitchFamily="2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062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GB" sz="8000" dirty="0" smtClean="0"/>
              <a:t>Numbers and Arithmetic</a:t>
            </a:r>
            <a:endParaRPr lang="en-GB" sz="8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653136"/>
            <a:ext cx="6400800" cy="985664"/>
          </a:xfrm>
        </p:spPr>
        <p:txBody>
          <a:bodyPr/>
          <a:lstStyle/>
          <a:p>
            <a:r>
              <a:rPr lang="en-GB" dirty="0" smtClean="0">
                <a:solidFill>
                  <a:srgbClr val="000F2E"/>
                </a:solidFill>
              </a:rPr>
              <a:t>Introduction to Python</a:t>
            </a:r>
            <a:endParaRPr lang="en-GB" dirty="0">
              <a:solidFill>
                <a:srgbClr val="000F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0522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 eaLnBrk="1" hangingPunct="1"/>
            <a:r>
              <a:rPr lang="en-GB" altLang="en-US" b="1" dirty="0" smtClean="0"/>
              <a:t>Learning Objectives</a:t>
            </a:r>
          </a:p>
        </p:txBody>
      </p:sp>
      <p:sp>
        <p:nvSpPr>
          <p:cNvPr id="7171" name="Content Placeholder 1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GB" altLang="en-US" smtClean="0"/>
              <a:t>Understand the importance of using correct data types: string, integer or float </a:t>
            </a:r>
          </a:p>
          <a:p>
            <a:pPr eaLnBrk="1" hangingPunct="1"/>
            <a:r>
              <a:rPr lang="en-GB" altLang="en-US" smtClean="0"/>
              <a:t>Use the </a:t>
            </a:r>
            <a:r>
              <a:rPr lang="en-GB" altLang="en-US" b="1" smtClean="0"/>
              <a:t>int</a:t>
            </a:r>
            <a:r>
              <a:rPr lang="en-GB" altLang="en-US" smtClean="0"/>
              <a:t>, </a:t>
            </a:r>
            <a:r>
              <a:rPr lang="en-GB" altLang="en-US" b="1" smtClean="0"/>
              <a:t>float</a:t>
            </a:r>
            <a:r>
              <a:rPr lang="en-GB" altLang="en-US" smtClean="0"/>
              <a:t> and </a:t>
            </a:r>
            <a:r>
              <a:rPr lang="en-GB" altLang="en-US" b="1" smtClean="0"/>
              <a:t>round</a:t>
            </a:r>
            <a:r>
              <a:rPr lang="en-GB" altLang="en-US" smtClean="0"/>
              <a:t> functions</a:t>
            </a:r>
          </a:p>
          <a:p>
            <a:pPr eaLnBrk="1" hangingPunct="1"/>
            <a:r>
              <a:rPr lang="en-GB" altLang="en-US" smtClean="0"/>
              <a:t>Understand how to use assignment statements correctly</a:t>
            </a:r>
          </a:p>
          <a:p>
            <a:pPr eaLnBrk="1" hangingPunct="1"/>
            <a:r>
              <a:rPr lang="en-GB" altLang="en-US" smtClean="0"/>
              <a:t>Perform arithmetic using the BIDMAS rule</a:t>
            </a:r>
          </a:p>
          <a:p>
            <a:pPr eaLnBrk="1" hangingPunct="1"/>
            <a:r>
              <a:rPr lang="en-GB" altLang="en-US" smtClean="0"/>
              <a:t>Write a program involving input, calculation and output</a:t>
            </a:r>
          </a:p>
        </p:txBody>
      </p:sp>
    </p:spTree>
    <p:extLst>
      <p:ext uri="{BB962C8B-B14F-4D97-AF65-F5344CB8AC3E}">
        <p14:creationId xmlns:p14="http://schemas.microsoft.com/office/powerpoint/2010/main" val="4067030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What does this program do?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79501"/>
            <a:ext cx="8229600" cy="1861667"/>
          </a:xfrm>
        </p:spPr>
        <p:txBody>
          <a:bodyPr rtlCol="0"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sz="1800" dirty="0" smtClean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#Animal</a:t>
            </a:r>
            <a:endParaRPr lang="en-GB" sz="1800" dirty="0">
              <a:solidFill>
                <a:srgbClr val="FF0000"/>
              </a:solidFill>
              <a:latin typeface="Consolas" pitchFamily="49" charset="0"/>
              <a:cs typeface="Consolas" pitchFamily="49" charset="0"/>
            </a:endParaRPr>
          </a:p>
          <a:p>
            <a:pPr marL="0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sz="1800" dirty="0">
                <a:latin typeface="Consolas" pitchFamily="49" charset="0"/>
                <a:cs typeface="Consolas" pitchFamily="49" charset="0"/>
              </a:rPr>
              <a:t>animal = </a:t>
            </a:r>
            <a:r>
              <a:rPr lang="en-GB" sz="1800" dirty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input</a:t>
            </a:r>
            <a:r>
              <a:rPr lang="en-GB" sz="1800" dirty="0">
                <a:latin typeface="Consolas" pitchFamily="49" charset="0"/>
                <a:cs typeface="Consolas" pitchFamily="49" charset="0"/>
              </a:rPr>
              <a:t>(</a:t>
            </a:r>
            <a:r>
              <a:rPr lang="en-GB" sz="1800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"Enter the name of an animal: "</a:t>
            </a:r>
            <a:r>
              <a:rPr lang="en-GB" sz="18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pPr marL="0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sz="1800" dirty="0">
                <a:latin typeface="Consolas" pitchFamily="49" charset="0"/>
                <a:cs typeface="Consolas" pitchFamily="49" charset="0"/>
              </a:rPr>
              <a:t>description = </a:t>
            </a:r>
            <a:r>
              <a:rPr lang="en-GB" sz="1800" dirty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input</a:t>
            </a:r>
            <a:r>
              <a:rPr lang="en-GB" sz="1800" dirty="0">
                <a:latin typeface="Consolas" pitchFamily="49" charset="0"/>
                <a:cs typeface="Consolas" pitchFamily="49" charset="0"/>
              </a:rPr>
              <a:t>(</a:t>
            </a:r>
            <a:r>
              <a:rPr lang="en-GB" sz="1800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"How would you describe a "</a:t>
            </a:r>
            <a:r>
              <a:rPr lang="en-GB" sz="1800" dirty="0">
                <a:latin typeface="Consolas" pitchFamily="49" charset="0"/>
                <a:cs typeface="Consolas" pitchFamily="49" charset="0"/>
              </a:rPr>
              <a:t> + animal + </a:t>
            </a:r>
            <a:r>
              <a:rPr lang="en-GB" sz="1800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"? "</a:t>
            </a:r>
            <a:r>
              <a:rPr lang="en-GB" sz="18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pPr marL="0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sz="1800" dirty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print</a:t>
            </a:r>
            <a:r>
              <a:rPr lang="en-GB" sz="1800" dirty="0">
                <a:latin typeface="Consolas" pitchFamily="49" charset="0"/>
                <a:cs typeface="Consolas" pitchFamily="49" charset="0"/>
              </a:rPr>
              <a:t> (</a:t>
            </a:r>
            <a:r>
              <a:rPr lang="en-GB" sz="1800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"</a:t>
            </a:r>
            <a:r>
              <a:rPr lang="en-GB" sz="1800" dirty="0" err="1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A"</a:t>
            </a:r>
            <a:r>
              <a:rPr lang="en-GB" sz="1800" dirty="0" err="1">
                <a:latin typeface="Consolas" pitchFamily="49" charset="0"/>
                <a:cs typeface="Consolas" pitchFamily="49" charset="0"/>
              </a:rPr>
              <a:t>,animal,</a:t>
            </a:r>
            <a:r>
              <a:rPr lang="en-GB" sz="1800" dirty="0" err="1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"is"</a:t>
            </a:r>
            <a:r>
              <a:rPr lang="en-GB" sz="1800" dirty="0" err="1">
                <a:latin typeface="Consolas" pitchFamily="49" charset="0"/>
                <a:cs typeface="Consolas" pitchFamily="49" charset="0"/>
              </a:rPr>
              <a:t>,description</a:t>
            </a:r>
            <a:r>
              <a:rPr lang="en-GB" sz="18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pPr marL="0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sz="1800" dirty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print</a:t>
            </a:r>
            <a:r>
              <a:rPr lang="en-GB" sz="1800" dirty="0">
                <a:latin typeface="Consolas" pitchFamily="49" charset="0"/>
                <a:cs typeface="Consolas" pitchFamily="49" charset="0"/>
              </a:rPr>
              <a:t>(</a:t>
            </a:r>
            <a:r>
              <a:rPr lang="en-GB" sz="1800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"You will find it </a:t>
            </a:r>
            <a:r>
              <a:rPr lang="en-GB" sz="1800" dirty="0" err="1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under"</a:t>
            </a:r>
            <a:r>
              <a:rPr lang="en-GB" sz="1800" dirty="0" err="1">
                <a:latin typeface="Consolas" pitchFamily="49" charset="0"/>
                <a:cs typeface="Consolas" pitchFamily="49" charset="0"/>
              </a:rPr>
              <a:t>,animal</a:t>
            </a:r>
            <a:r>
              <a:rPr lang="en-GB" sz="1800" dirty="0">
                <a:latin typeface="Consolas" pitchFamily="49" charset="0"/>
                <a:cs typeface="Consolas" pitchFamily="49" charset="0"/>
              </a:rPr>
              <a:t>[0],</a:t>
            </a:r>
            <a:r>
              <a:rPr lang="en-GB" sz="1800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"in the dictionary"</a:t>
            </a:r>
            <a:r>
              <a:rPr lang="en-GB" sz="18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8197" name="Content Placeholder 2"/>
          <p:cNvSpPr txBox="1">
            <a:spLocks/>
          </p:cNvSpPr>
          <p:nvPr/>
        </p:nvSpPr>
        <p:spPr bwMode="auto">
          <a:xfrm>
            <a:off x="457200" y="1916113"/>
            <a:ext cx="8229600" cy="122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en-GB" altLang="en-US"/>
              <a:t>Look at the code below and describe what each line does</a:t>
            </a:r>
          </a:p>
        </p:txBody>
      </p:sp>
      <p:pic>
        <p:nvPicPr>
          <p:cNvPr id="8198" name="Picture 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0563" y="4819650"/>
            <a:ext cx="2714625" cy="203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80468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Data Types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457200" y="1844824"/>
            <a:ext cx="8229600" cy="4680520"/>
          </a:xfrm>
        </p:spPr>
        <p:txBody>
          <a:bodyPr/>
          <a:lstStyle/>
          <a:p>
            <a:pPr eaLnBrk="1" hangingPunct="1"/>
            <a:r>
              <a:rPr lang="en-GB" altLang="en-US" sz="3600" b="1" dirty="0" smtClean="0"/>
              <a:t>String</a:t>
            </a:r>
            <a:r>
              <a:rPr lang="en-GB" altLang="en-US" sz="3600" dirty="0" smtClean="0"/>
              <a:t> holds alphanumeric data as text</a:t>
            </a:r>
          </a:p>
          <a:p>
            <a:pPr eaLnBrk="1" hangingPunct="1"/>
            <a:r>
              <a:rPr lang="en-GB" altLang="en-US" sz="3600" b="1" dirty="0" smtClean="0"/>
              <a:t>Integer</a:t>
            </a:r>
            <a:r>
              <a:rPr lang="en-GB" altLang="en-US" sz="3600" dirty="0" smtClean="0"/>
              <a:t> holds whole numbers</a:t>
            </a:r>
          </a:p>
          <a:p>
            <a:pPr eaLnBrk="1" hangingPunct="1"/>
            <a:r>
              <a:rPr lang="en-GB" altLang="en-US" sz="3600" b="1" dirty="0" smtClean="0"/>
              <a:t>Float</a:t>
            </a:r>
            <a:r>
              <a:rPr lang="en-GB" altLang="en-US" sz="3600" dirty="0" smtClean="0"/>
              <a:t> holds numbers with a decimal point</a:t>
            </a:r>
          </a:p>
          <a:p>
            <a:pPr eaLnBrk="1" hangingPunct="1"/>
            <a:r>
              <a:rPr lang="en-GB" altLang="en-US" sz="3600" b="1" dirty="0" smtClean="0"/>
              <a:t>Boolean</a:t>
            </a:r>
            <a:r>
              <a:rPr lang="en-GB" altLang="en-US" sz="3600" dirty="0" smtClean="0"/>
              <a:t> holds either ‘</a:t>
            </a:r>
            <a:r>
              <a:rPr lang="en-GB" altLang="en-US" sz="3600" i="1" dirty="0" smtClean="0"/>
              <a:t>True</a:t>
            </a:r>
            <a:r>
              <a:rPr lang="en-GB" altLang="en-US" sz="3600" dirty="0" smtClean="0"/>
              <a:t>’ or ‘</a:t>
            </a:r>
            <a:r>
              <a:rPr lang="en-GB" altLang="en-US" sz="3600" i="1" dirty="0" smtClean="0"/>
              <a:t>False</a:t>
            </a:r>
            <a:r>
              <a:rPr lang="en-GB" altLang="en-US" sz="3600" dirty="0" smtClean="0"/>
              <a:t>’</a:t>
            </a:r>
          </a:p>
          <a:p>
            <a:pPr eaLnBrk="1" hangingPunct="1"/>
            <a:r>
              <a:rPr lang="en-GB" altLang="en-US" sz="3600" b="1" dirty="0" smtClean="0"/>
              <a:t>Currency</a:t>
            </a:r>
            <a:r>
              <a:rPr lang="en-GB" altLang="en-US" sz="3600" dirty="0" smtClean="0"/>
              <a:t> holds monetary data</a:t>
            </a:r>
          </a:p>
          <a:p>
            <a:pPr eaLnBrk="1" hangingPunct="1"/>
            <a:r>
              <a:rPr lang="en-GB" altLang="en-US" sz="3600" b="1" dirty="0" smtClean="0"/>
              <a:t>Char</a:t>
            </a:r>
            <a:r>
              <a:rPr lang="en-GB" altLang="en-US" sz="3600" dirty="0" smtClean="0"/>
              <a:t> holds individual characters e.g. “A”</a:t>
            </a:r>
          </a:p>
          <a:p>
            <a:pPr eaLnBrk="1" hangingPunct="1"/>
            <a:r>
              <a:rPr lang="en-GB" altLang="en-US" sz="3600" b="1" dirty="0" smtClean="0"/>
              <a:t>Data/Time</a:t>
            </a:r>
            <a:r>
              <a:rPr lang="en-GB" altLang="en-US" sz="3600" dirty="0" smtClean="0"/>
              <a:t> e.g. </a:t>
            </a:r>
            <a:r>
              <a:rPr lang="en-GB" altLang="en-US" sz="3600" dirty="0" err="1" smtClean="0"/>
              <a:t>dd</a:t>
            </a:r>
            <a:r>
              <a:rPr lang="en-GB" altLang="en-US" sz="3600" dirty="0" smtClean="0"/>
              <a:t>/mm/</a:t>
            </a:r>
            <a:r>
              <a:rPr lang="en-GB" altLang="en-US" sz="3600" dirty="0" err="1" smtClean="0"/>
              <a:t>yyyy</a:t>
            </a:r>
            <a:endParaRPr lang="en-GB" altLang="en-US" sz="3600" dirty="0" smtClean="0"/>
          </a:p>
        </p:txBody>
      </p:sp>
    </p:spTree>
    <p:extLst>
      <p:ext uri="{BB962C8B-B14F-4D97-AF65-F5344CB8AC3E}">
        <p14:creationId xmlns:p14="http://schemas.microsoft.com/office/powerpoint/2010/main" val="3216869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Defining Variable 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 fontScale="92500"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sz="3600" dirty="0" smtClean="0"/>
              <a:t>Python automatically assigns a data type to a variable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GB" sz="3600" dirty="0" smtClean="0"/>
              <a:t>You can override this </a:t>
            </a:r>
            <a:r>
              <a:rPr lang="en-GB" sz="3600" dirty="0"/>
              <a:t>to manually define </a:t>
            </a:r>
            <a:r>
              <a:rPr lang="en-GB" sz="3600" dirty="0" smtClean="0"/>
              <a:t>or change the </a:t>
            </a:r>
            <a:r>
              <a:rPr lang="en-GB" sz="3600" dirty="0"/>
              <a:t>data </a:t>
            </a:r>
            <a:r>
              <a:rPr lang="en-GB" sz="3600" dirty="0" smtClean="0"/>
              <a:t>type using: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GB" sz="3200" b="1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en-GB" sz="3200" b="1" dirty="0" err="1" smtClean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str</a:t>
            </a:r>
            <a:r>
              <a:rPr lang="en-GB" sz="3200" b="1" dirty="0" smtClean="0">
                <a:latin typeface="Consolas" pitchFamily="49" charset="0"/>
                <a:cs typeface="Consolas" pitchFamily="49" charset="0"/>
              </a:rPr>
              <a:t>()		</a:t>
            </a:r>
            <a:r>
              <a:rPr lang="en-GB" sz="3200" b="1" dirty="0" err="1" smtClean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str</a:t>
            </a:r>
            <a:r>
              <a:rPr lang="en-GB" sz="3200" b="1" dirty="0" smtClean="0">
                <a:latin typeface="Consolas" pitchFamily="49" charset="0"/>
                <a:cs typeface="Consolas" pitchFamily="49" charset="0"/>
              </a:rPr>
              <a:t>(</a:t>
            </a:r>
            <a:r>
              <a:rPr lang="en-GB" sz="3200" b="1" dirty="0" err="1" smtClean="0">
                <a:latin typeface="Consolas" pitchFamily="49" charset="0"/>
                <a:cs typeface="Consolas" pitchFamily="49" charset="0"/>
              </a:rPr>
              <a:t>animal_name</a:t>
            </a:r>
            <a:r>
              <a:rPr lang="en-GB" sz="3200" b="1" dirty="0" smtClean="0">
                <a:latin typeface="Consolas" pitchFamily="49" charset="0"/>
                <a:cs typeface="Consolas" pitchFamily="49" charset="0"/>
              </a:rPr>
              <a:t>)</a:t>
            </a:r>
            <a:endParaRPr lang="en-GB" sz="3200" b="1" dirty="0" smtClean="0"/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GB" sz="3200" b="1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en-GB" sz="3200" b="1" dirty="0" err="1" smtClean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GB" sz="3200" b="1" dirty="0" smtClean="0">
                <a:latin typeface="Consolas" pitchFamily="49" charset="0"/>
                <a:cs typeface="Consolas" pitchFamily="49" charset="0"/>
              </a:rPr>
              <a:t>()		</a:t>
            </a:r>
            <a:r>
              <a:rPr lang="en-GB" sz="3200" b="1" dirty="0" err="1" smtClean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GB" sz="3200" b="1" dirty="0" smtClean="0">
                <a:latin typeface="Consolas" pitchFamily="49" charset="0"/>
                <a:cs typeface="Consolas" pitchFamily="49" charset="0"/>
              </a:rPr>
              <a:t>(</a:t>
            </a:r>
            <a:r>
              <a:rPr lang="en-GB" sz="3200" b="1" dirty="0" err="1" smtClean="0">
                <a:latin typeface="Consolas" pitchFamily="49" charset="0"/>
                <a:cs typeface="Consolas" pitchFamily="49" charset="0"/>
              </a:rPr>
              <a:t>goals_scored</a:t>
            </a:r>
            <a:r>
              <a:rPr lang="en-GB" sz="3200" b="1" dirty="0" smtClean="0">
                <a:latin typeface="Consolas" pitchFamily="49" charset="0"/>
                <a:cs typeface="Consolas" pitchFamily="49" charset="0"/>
              </a:rPr>
              <a:t>)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GB" sz="3200" b="1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en-GB" sz="3200" b="1" dirty="0" smtClean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float</a:t>
            </a:r>
            <a:r>
              <a:rPr lang="en-GB" sz="3200" b="1" dirty="0" smtClean="0">
                <a:latin typeface="Consolas" pitchFamily="49" charset="0"/>
                <a:cs typeface="Consolas" pitchFamily="49" charset="0"/>
              </a:rPr>
              <a:t>()		</a:t>
            </a:r>
            <a:r>
              <a:rPr lang="en-GB" sz="3200" b="1" dirty="0" smtClean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float</a:t>
            </a:r>
            <a:r>
              <a:rPr lang="en-GB" sz="3200" b="1" dirty="0" smtClean="0">
                <a:latin typeface="Consolas" pitchFamily="49" charset="0"/>
                <a:cs typeface="Consolas" pitchFamily="49" charset="0"/>
              </a:rPr>
              <a:t>(</a:t>
            </a:r>
            <a:r>
              <a:rPr lang="en-GB" sz="3200" b="1" dirty="0" err="1" smtClean="0">
                <a:latin typeface="Consolas" pitchFamily="49" charset="0"/>
                <a:cs typeface="Consolas" pitchFamily="49" charset="0"/>
              </a:rPr>
              <a:t>share_price</a:t>
            </a:r>
            <a:r>
              <a:rPr lang="en-GB" sz="3200" b="1" dirty="0" smtClean="0">
                <a:latin typeface="Consolas" pitchFamily="49" charset="0"/>
                <a:cs typeface="Consolas" pitchFamily="49" charset="0"/>
              </a:rPr>
              <a:t>)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GB" sz="3600" dirty="0"/>
              <a:t>This is called </a:t>
            </a:r>
            <a:r>
              <a:rPr lang="en-GB" sz="3600" b="1" dirty="0"/>
              <a:t>Casting</a:t>
            </a:r>
          </a:p>
        </p:txBody>
      </p:sp>
    </p:spTree>
    <p:extLst>
      <p:ext uri="{BB962C8B-B14F-4D97-AF65-F5344CB8AC3E}">
        <p14:creationId xmlns:p14="http://schemas.microsoft.com/office/powerpoint/2010/main" val="2365441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Choosing Data Types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457200" y="1844675"/>
          <a:ext cx="8229600" cy="3983039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630627"/>
                <a:gridCol w="1705448"/>
                <a:gridCol w="2056570"/>
                <a:gridCol w="1836955"/>
              </a:tblGrid>
              <a:tr h="782338">
                <a:tc>
                  <a:txBody>
                    <a:bodyPr/>
                    <a:lstStyle/>
                    <a:p>
                      <a:pPr algn="ctr"/>
                      <a:r>
                        <a:rPr lang="en-GB" sz="3200" dirty="0" smtClean="0"/>
                        <a:t>Data</a:t>
                      </a:r>
                      <a:endParaRPr lang="en-GB" sz="3200" dirty="0"/>
                    </a:p>
                  </a:txBody>
                  <a:tcPr marL="90053" marR="90053" marT="45724" marB="457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dirty="0" smtClean="0"/>
                        <a:t>Example</a:t>
                      </a:r>
                      <a:endParaRPr lang="en-GB" sz="3200" dirty="0"/>
                    </a:p>
                  </a:txBody>
                  <a:tcPr marL="90053" marR="90053" marT="45724" marB="457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dirty="0" smtClean="0"/>
                        <a:t>Data Type</a:t>
                      </a:r>
                      <a:endParaRPr lang="en-GB" sz="3200" dirty="0"/>
                    </a:p>
                  </a:txBody>
                  <a:tcPr marL="90053" marR="90053" marT="45724" marB="457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dirty="0" smtClean="0"/>
                        <a:t>Code</a:t>
                      </a:r>
                      <a:endParaRPr lang="en-GB" sz="3200" dirty="0"/>
                    </a:p>
                  </a:txBody>
                  <a:tcPr marL="90053" marR="90053" marT="45724" marB="45724" anchor="ctr"/>
                </a:tc>
              </a:tr>
              <a:tr h="457243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 smtClean="0"/>
                        <a:t>Age</a:t>
                      </a:r>
                      <a:endParaRPr lang="en-GB" sz="2400" b="1" dirty="0"/>
                    </a:p>
                  </a:txBody>
                  <a:tcPr marL="90053" marR="90053" marT="45724" marB="457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i="1" dirty="0" smtClean="0"/>
                        <a:t>14</a:t>
                      </a:r>
                      <a:endParaRPr lang="en-GB" sz="2400" i="1" dirty="0"/>
                    </a:p>
                  </a:txBody>
                  <a:tcPr marL="90053" marR="90053" marT="45724" marB="457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i="1" dirty="0" smtClean="0"/>
                        <a:t>Integer</a:t>
                      </a:r>
                      <a:endParaRPr lang="en-GB" sz="2400" i="1" dirty="0"/>
                    </a:p>
                  </a:txBody>
                  <a:tcPr marL="90053" marR="90053" marT="45724" marB="457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i="0" dirty="0" err="1" smtClean="0">
                          <a:latin typeface="Consolas" pitchFamily="49" charset="0"/>
                          <a:cs typeface="Consolas" pitchFamily="49" charset="0"/>
                        </a:rPr>
                        <a:t>int</a:t>
                      </a:r>
                      <a:r>
                        <a:rPr lang="en-GB" sz="2400" i="0" dirty="0" smtClean="0">
                          <a:latin typeface="Consolas" pitchFamily="49" charset="0"/>
                          <a:cs typeface="Consolas" pitchFamily="49" charset="0"/>
                        </a:rPr>
                        <a:t>(age)</a:t>
                      </a:r>
                      <a:endParaRPr lang="en-GB" sz="2400" i="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 marL="90053" marR="90053" marT="45724" marB="45724" anchor="ctr"/>
                </a:tc>
              </a:tr>
              <a:tr h="457243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 smtClean="0"/>
                        <a:t>Shoe Size</a:t>
                      </a:r>
                      <a:endParaRPr lang="en-GB" sz="2400" b="1" dirty="0"/>
                    </a:p>
                  </a:txBody>
                  <a:tcPr marL="90053" marR="90053" marT="45724" marB="457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i="1" dirty="0" smtClean="0"/>
                        <a:t>6.5</a:t>
                      </a:r>
                      <a:endParaRPr lang="en-GB" sz="2400" i="1" dirty="0"/>
                    </a:p>
                  </a:txBody>
                  <a:tcPr marL="90053" marR="90053" marT="45724" marB="457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i="1" dirty="0" smtClean="0"/>
                        <a:t>Float</a:t>
                      </a:r>
                      <a:endParaRPr lang="en-GB" sz="2400" i="1" dirty="0"/>
                    </a:p>
                  </a:txBody>
                  <a:tcPr marL="90053" marR="90053" marT="45724" marB="45724"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i="1" dirty="0"/>
                    </a:p>
                  </a:txBody>
                  <a:tcPr marL="90053" marR="90053" marT="45724" marB="45724" anchor="ctr"/>
                </a:tc>
              </a:tr>
              <a:tr h="457243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 smtClean="0"/>
                        <a:t>Price</a:t>
                      </a:r>
                      <a:endParaRPr lang="en-GB" sz="2400" b="1" dirty="0"/>
                    </a:p>
                  </a:txBody>
                  <a:tcPr marL="90053" marR="90053" marT="45724" marB="457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 smtClean="0"/>
                        <a:t>14.99</a:t>
                      </a:r>
                      <a:endParaRPr lang="en-GB" sz="2400" dirty="0"/>
                    </a:p>
                  </a:txBody>
                  <a:tcPr marL="90053" marR="90053" marT="45724" marB="45724" anchor="ctr"/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0053" marR="90053" marT="45724" marB="45724"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marL="90053" marR="90053" marT="45724" marB="45724" anchor="ctr"/>
                </a:tc>
              </a:tr>
              <a:tr h="457243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 smtClean="0"/>
                        <a:t>Postcode</a:t>
                      </a:r>
                      <a:endParaRPr lang="en-GB" sz="2400" b="1" dirty="0"/>
                    </a:p>
                  </a:txBody>
                  <a:tcPr marL="90053" marR="90053" marT="45724" marB="45724"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marL="90053" marR="90053" marT="45724" marB="45724" anchor="ctr"/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0053" marR="90053" marT="45724" marB="45724"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marL="90053" marR="90053" marT="45724" marB="45724" anchor="ctr"/>
                </a:tc>
              </a:tr>
              <a:tr h="457243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 smtClean="0"/>
                        <a:t>Height</a:t>
                      </a:r>
                      <a:endParaRPr lang="en-GB" sz="2400" b="1" dirty="0"/>
                    </a:p>
                  </a:txBody>
                  <a:tcPr marL="90053" marR="90053" marT="45724" marB="45724"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marL="90053" marR="90053" marT="45724" marB="45724" anchor="ctr"/>
                </a:tc>
                <a:tc>
                  <a:txBody>
                    <a:bodyPr/>
                    <a:lstStyle/>
                    <a:p>
                      <a:endParaRPr lang="en-GB" sz="1800"/>
                    </a:p>
                  </a:txBody>
                  <a:tcPr marL="90053" marR="90053" marT="45724" marB="45724"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marL="90053" marR="90053" marT="45724" marB="45724" anchor="ctr"/>
                </a:tc>
              </a:tr>
              <a:tr h="457243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 smtClean="0"/>
                        <a:t>Quantity in Stock</a:t>
                      </a:r>
                      <a:endParaRPr lang="en-GB" sz="2400" b="1" dirty="0"/>
                    </a:p>
                  </a:txBody>
                  <a:tcPr marL="90053" marR="90053" marT="45724" marB="45724"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marL="90053" marR="90053" marT="45724" marB="45724" anchor="ctr"/>
                </a:tc>
                <a:tc>
                  <a:txBody>
                    <a:bodyPr/>
                    <a:lstStyle/>
                    <a:p>
                      <a:endParaRPr lang="en-GB" sz="1800"/>
                    </a:p>
                  </a:txBody>
                  <a:tcPr marL="90053" marR="90053" marT="45724" marB="45724"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marL="90053" marR="90053" marT="45724" marB="45724" anchor="ctr"/>
                </a:tc>
              </a:tr>
              <a:tr h="457243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 smtClean="0"/>
                        <a:t>Telephone Number</a:t>
                      </a:r>
                      <a:endParaRPr lang="en-GB" sz="2400" b="1" dirty="0"/>
                    </a:p>
                  </a:txBody>
                  <a:tcPr marL="90053" marR="90053" marT="45724" marB="45724"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marL="90053" marR="90053" marT="45724" marB="45724" anchor="ctr"/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0053" marR="90053" marT="45724" marB="45724" anchor="ctr"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 marL="90053" marR="90053" marT="45724" marB="45724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9938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23850" y="2780630"/>
            <a:ext cx="8507413" cy="1152426"/>
          </a:xfrm>
          <a:prstGeom prst="rect">
            <a:avLst/>
          </a:prstGeom>
          <a:solidFill>
            <a:srgbClr val="D1E0FF"/>
          </a:solidFill>
          <a:ln>
            <a:solidFill>
              <a:srgbClr val="000F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GB"/>
          </a:p>
        </p:txBody>
      </p:sp>
      <p:sp>
        <p:nvSpPr>
          <p:cNvPr id="1229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The Importance of 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44824"/>
            <a:ext cx="8229600" cy="4680520"/>
          </a:xfrm>
        </p:spPr>
        <p:txBody>
          <a:bodyPr rtlCol="0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sz="3600" dirty="0" smtClean="0"/>
              <a:t>Create a variable called </a:t>
            </a:r>
            <a:r>
              <a:rPr lang="en-GB" sz="3600" i="1" dirty="0" err="1" smtClean="0"/>
              <a:t>mynumber</a:t>
            </a:r>
            <a:r>
              <a:rPr lang="en-GB" sz="3600" dirty="0" smtClean="0"/>
              <a:t> and allow the user to input a value to assign to it</a:t>
            </a:r>
            <a:endParaRPr lang="en-GB" sz="3600" i="1" dirty="0" smtClean="0"/>
          </a:p>
          <a:p>
            <a:pPr marL="0" indent="0" eaLnBrk="1" fontAlgn="auto" hangingPunct="1">
              <a:lnSpc>
                <a:spcPct val="15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sz="3000" dirty="0" err="1" smtClean="0">
                <a:latin typeface="Consolas" pitchFamily="49" charset="0"/>
                <a:cs typeface="Consolas" pitchFamily="49" charset="0"/>
              </a:rPr>
              <a:t>mynumber</a:t>
            </a:r>
            <a:r>
              <a:rPr lang="en-GB" sz="3000" dirty="0" smtClean="0">
                <a:latin typeface="Consolas" pitchFamily="49" charset="0"/>
                <a:cs typeface="Consolas" pitchFamily="49" charset="0"/>
              </a:rPr>
              <a:t> = </a:t>
            </a:r>
            <a:r>
              <a:rPr lang="en-GB" sz="3000" dirty="0" smtClean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input</a:t>
            </a:r>
            <a:r>
              <a:rPr lang="en-GB" sz="3000" dirty="0" smtClean="0">
                <a:latin typeface="Consolas" pitchFamily="49" charset="0"/>
                <a:cs typeface="Consolas" pitchFamily="49" charset="0"/>
              </a:rPr>
              <a:t>(</a:t>
            </a:r>
            <a:r>
              <a:rPr lang="en-GB" sz="3000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"Enter a number"</a:t>
            </a:r>
            <a:r>
              <a:rPr lang="en-GB" sz="3000" dirty="0" smtClean="0">
                <a:latin typeface="Consolas" pitchFamily="49" charset="0"/>
                <a:cs typeface="Consolas" pitchFamily="49" charset="0"/>
              </a:rPr>
              <a:t>)</a:t>
            </a:r>
          </a:p>
          <a:p>
            <a:pPr marL="0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sz="3000" dirty="0" smtClean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print</a:t>
            </a:r>
            <a:r>
              <a:rPr lang="en-GB" sz="3000" dirty="0" smtClean="0">
                <a:latin typeface="Consolas" pitchFamily="49" charset="0"/>
                <a:cs typeface="Consolas" pitchFamily="49" charset="0"/>
              </a:rPr>
              <a:t> (</a:t>
            </a:r>
            <a:r>
              <a:rPr lang="en-GB" sz="3000" dirty="0" err="1">
                <a:latin typeface="Consolas" pitchFamily="49" charset="0"/>
                <a:cs typeface="Consolas" pitchFamily="49" charset="0"/>
              </a:rPr>
              <a:t>my</a:t>
            </a:r>
            <a:r>
              <a:rPr lang="en-GB" sz="3000" dirty="0" err="1" smtClean="0">
                <a:latin typeface="Consolas" pitchFamily="49" charset="0"/>
                <a:cs typeface="Consolas" pitchFamily="49" charset="0"/>
              </a:rPr>
              <a:t>number</a:t>
            </a:r>
            <a:r>
              <a:rPr lang="en-GB" sz="3000" dirty="0" smtClean="0">
                <a:latin typeface="Consolas" pitchFamily="49" charset="0"/>
                <a:cs typeface="Consolas" pitchFamily="49" charset="0"/>
              </a:rPr>
              <a:t> + </a:t>
            </a:r>
            <a:r>
              <a:rPr lang="en-GB" sz="3000" dirty="0" err="1" smtClean="0">
                <a:latin typeface="Consolas" pitchFamily="49" charset="0"/>
                <a:cs typeface="Consolas" pitchFamily="49" charset="0"/>
              </a:rPr>
              <a:t>mynumber</a:t>
            </a:r>
            <a:r>
              <a:rPr lang="en-GB" sz="3000" dirty="0" smtClean="0">
                <a:latin typeface="Consolas" pitchFamily="49" charset="0"/>
                <a:cs typeface="Consolas" pitchFamily="49" charset="0"/>
              </a:rPr>
              <a:t>)</a:t>
            </a:r>
          </a:p>
          <a:p>
            <a:pPr marL="0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GB" sz="3000" dirty="0" smtClean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GB" sz="3000" dirty="0" smtClean="0"/>
              <a:t>What do you think happens?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GB" sz="3000" dirty="0" smtClean="0"/>
              <a:t>Try it!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GB" sz="3000" dirty="0" smtClean="0"/>
              <a:t>Convert the data type: </a:t>
            </a:r>
            <a:r>
              <a:rPr lang="en-GB" sz="3000" dirty="0" err="1" smtClean="0">
                <a:latin typeface="Consolas" pitchFamily="49" charset="0"/>
                <a:cs typeface="Consolas" pitchFamily="49" charset="0"/>
              </a:rPr>
              <a:t>mynumber</a:t>
            </a:r>
            <a:r>
              <a:rPr lang="en-GB" sz="3000" dirty="0" smtClean="0">
                <a:latin typeface="Consolas" pitchFamily="49" charset="0"/>
                <a:cs typeface="Consolas" pitchFamily="49" charset="0"/>
              </a:rPr>
              <a:t> = </a:t>
            </a:r>
            <a:r>
              <a:rPr lang="en-GB" sz="3000" dirty="0" err="1" smtClean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GB" sz="3000" dirty="0" smtClean="0">
                <a:latin typeface="Consolas" pitchFamily="49" charset="0"/>
                <a:cs typeface="Consolas" pitchFamily="49" charset="0"/>
              </a:rPr>
              <a:t>(</a:t>
            </a:r>
            <a:r>
              <a:rPr lang="en-GB" sz="3000" dirty="0" err="1">
                <a:latin typeface="Consolas" pitchFamily="49" charset="0"/>
                <a:cs typeface="Consolas" pitchFamily="49" charset="0"/>
              </a:rPr>
              <a:t>mynumber</a:t>
            </a:r>
            <a:r>
              <a:rPr lang="en-GB" sz="3000" dirty="0" smtClean="0">
                <a:latin typeface="Consolas" pitchFamily="49" charset="0"/>
                <a:cs typeface="Consolas" pitchFamily="49" charset="0"/>
              </a:rPr>
              <a:t>)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GB" sz="3000" dirty="0"/>
              <a:t>Where would you put this line?</a:t>
            </a:r>
          </a:p>
        </p:txBody>
      </p:sp>
    </p:spTree>
    <p:extLst>
      <p:ext uri="{BB962C8B-B14F-4D97-AF65-F5344CB8AC3E}">
        <p14:creationId xmlns:p14="http://schemas.microsoft.com/office/powerpoint/2010/main" val="3071721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Assignment Statements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Arial" pitchFamily="34" charset="0"/>
              <a:buNone/>
            </a:pPr>
            <a:r>
              <a:rPr lang="en-GB" altLang="en-US" b="1" smtClean="0"/>
              <a:t>	</a:t>
            </a:r>
            <a:r>
              <a:rPr lang="en-GB" altLang="en-US" smtClean="0"/>
              <a:t>Assignment statements assign a value to a variable. If the variable doesn’t already exist, it’s created.</a:t>
            </a:r>
          </a:p>
          <a:p>
            <a:pPr eaLnBrk="1" hangingPunct="1">
              <a:buFont typeface="Arial" pitchFamily="34" charset="0"/>
              <a:buNone/>
            </a:pPr>
            <a:r>
              <a:rPr lang="en-GB" altLang="en-US" smtClean="0"/>
              <a:t>	</a:t>
            </a:r>
            <a:r>
              <a:rPr lang="en-GB" altLang="en-US" b="1" smtClean="0"/>
              <a:t>Examples</a:t>
            </a:r>
            <a:r>
              <a:rPr lang="en-GB" altLang="en-US" smtClean="0"/>
              <a:t>:</a:t>
            </a:r>
            <a:br>
              <a:rPr lang="en-GB" altLang="en-US" smtClean="0"/>
            </a:br>
            <a:endParaRPr lang="en-GB" altLang="en-US" smtClean="0"/>
          </a:p>
          <a:p>
            <a:pPr eaLnBrk="1" hangingPunct="1">
              <a:buFont typeface="Arial" pitchFamily="34" charset="0"/>
              <a:buNone/>
            </a:pPr>
            <a:r>
              <a:rPr lang="en-GB" altLang="en-US" smtClean="0">
                <a:solidFill>
                  <a:srgbClr val="FF0000"/>
                </a:solidFill>
              </a:rPr>
              <a:t>	</a:t>
            </a:r>
            <a:r>
              <a:rPr lang="en-GB" altLang="en-US" smtClean="0">
                <a:latin typeface="Consolas" pitchFamily="49" charset="0"/>
              </a:rPr>
              <a:t>name </a:t>
            </a:r>
            <a:r>
              <a:rPr lang="en-GB" altLang="en-US" b="1" smtClean="0">
                <a:latin typeface="Consolas" pitchFamily="49" charset="0"/>
              </a:rPr>
              <a:t>=</a:t>
            </a:r>
            <a:r>
              <a:rPr lang="en-GB" altLang="en-US" smtClean="0">
                <a:solidFill>
                  <a:srgbClr val="FF0000"/>
                </a:solidFill>
                <a:latin typeface="Consolas" pitchFamily="49" charset="0"/>
              </a:rPr>
              <a:t> </a:t>
            </a:r>
            <a:r>
              <a:rPr lang="en-GB" altLang="en-US" smtClean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"Jo"</a:t>
            </a:r>
            <a:r>
              <a:rPr lang="en-GB" altLang="en-US" smtClean="0">
                <a:solidFill>
                  <a:srgbClr val="FF0000"/>
                </a:solidFill>
                <a:latin typeface="Consolas" pitchFamily="49" charset="0"/>
              </a:rPr>
              <a:t> </a:t>
            </a:r>
            <a:r>
              <a:rPr lang="en-GB" altLang="en-US" smtClean="0">
                <a:latin typeface="Consolas" pitchFamily="49" charset="0"/>
              </a:rPr>
              <a:t>+</a:t>
            </a:r>
            <a:r>
              <a:rPr lang="en-GB" altLang="en-US" smtClean="0">
                <a:solidFill>
                  <a:srgbClr val="FF0000"/>
                </a:solidFill>
                <a:latin typeface="Consolas" pitchFamily="49" charset="0"/>
              </a:rPr>
              <a:t> </a:t>
            </a:r>
            <a:r>
              <a:rPr lang="en-GB" altLang="en-US" smtClean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" Smith"</a:t>
            </a:r>
            <a:endParaRPr lang="en-GB" altLang="en-US" smtClean="0">
              <a:solidFill>
                <a:srgbClr val="FF0000"/>
              </a:solidFill>
              <a:latin typeface="Consolas" pitchFamily="49" charset="0"/>
            </a:endParaRPr>
          </a:p>
          <a:p>
            <a:pPr eaLnBrk="1" hangingPunct="1">
              <a:buFont typeface="Arial" pitchFamily="34" charset="0"/>
              <a:buNone/>
            </a:pPr>
            <a:r>
              <a:rPr lang="en-GB" altLang="en-US" sz="3600" smtClean="0">
                <a:solidFill>
                  <a:srgbClr val="FF0000"/>
                </a:solidFill>
                <a:latin typeface="Consolas" pitchFamily="49" charset="0"/>
              </a:rPr>
              <a:t>	</a:t>
            </a:r>
            <a:r>
              <a:rPr lang="en-GB" altLang="en-US" smtClean="0">
                <a:latin typeface="Consolas" pitchFamily="49" charset="0"/>
              </a:rPr>
              <a:t>number </a:t>
            </a:r>
            <a:r>
              <a:rPr lang="en-GB" altLang="en-US" b="1" smtClean="0">
                <a:latin typeface="Consolas" pitchFamily="49" charset="0"/>
              </a:rPr>
              <a:t>=</a:t>
            </a:r>
            <a:r>
              <a:rPr lang="en-GB" altLang="en-US" smtClean="0">
                <a:latin typeface="Consolas" pitchFamily="49" charset="0"/>
              </a:rPr>
              <a:t> 10</a:t>
            </a:r>
            <a:endParaRPr lang="en-GB" altLang="en-US" smtClean="0"/>
          </a:p>
          <a:p>
            <a:pPr eaLnBrk="1" hangingPunct="1">
              <a:buFont typeface="Arial" pitchFamily="34" charset="0"/>
              <a:buNone/>
            </a:pPr>
            <a:r>
              <a:rPr lang="en-GB" altLang="en-US" smtClean="0"/>
              <a:t>	</a:t>
            </a:r>
            <a:r>
              <a:rPr lang="en-GB" altLang="en-US" smtClean="0">
                <a:latin typeface="Consolas" pitchFamily="49" charset="0"/>
              </a:rPr>
              <a:t>number </a:t>
            </a:r>
            <a:r>
              <a:rPr lang="en-GB" altLang="en-US" b="1" smtClean="0">
                <a:latin typeface="Consolas" pitchFamily="49" charset="0"/>
              </a:rPr>
              <a:t>=</a:t>
            </a:r>
            <a:r>
              <a:rPr lang="en-GB" altLang="en-US" smtClean="0">
                <a:solidFill>
                  <a:srgbClr val="FF0000"/>
                </a:solidFill>
                <a:latin typeface="Consolas" pitchFamily="49" charset="0"/>
              </a:rPr>
              <a:t> </a:t>
            </a:r>
            <a:r>
              <a:rPr lang="en-GB" altLang="en-US" smtClean="0">
                <a:solidFill>
                  <a:srgbClr val="7030A0"/>
                </a:solidFill>
                <a:latin typeface="Consolas" pitchFamily="49" charset="0"/>
              </a:rPr>
              <a:t>input</a:t>
            </a:r>
            <a:r>
              <a:rPr lang="en-GB" altLang="en-US" smtClean="0">
                <a:latin typeface="Consolas" pitchFamily="49" charset="0"/>
              </a:rPr>
              <a:t>(</a:t>
            </a:r>
            <a:r>
              <a:rPr lang="en-GB" altLang="en-US" smtClean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"Enter a number"</a:t>
            </a:r>
            <a:r>
              <a:rPr lang="en-GB" altLang="en-US" smtClean="0">
                <a:latin typeface="Consolas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93028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BIDMAS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sz="3600" smtClean="0"/>
              <a:t>The order of arithmetic operations matters.</a:t>
            </a:r>
          </a:p>
          <a:p>
            <a:pPr eaLnBrk="1" hangingPunct="1"/>
            <a:r>
              <a:rPr lang="en-GB" altLang="en-US" sz="3600" b="1" smtClean="0"/>
              <a:t>B</a:t>
            </a:r>
            <a:r>
              <a:rPr lang="en-GB" altLang="en-US" sz="3600" smtClean="0"/>
              <a:t>rackets , </a:t>
            </a:r>
            <a:r>
              <a:rPr lang="en-GB" altLang="en-US" sz="3600" b="1" smtClean="0"/>
              <a:t>I</a:t>
            </a:r>
            <a:r>
              <a:rPr lang="en-GB" altLang="en-US" sz="3600" smtClean="0"/>
              <a:t>ndices, </a:t>
            </a:r>
            <a:r>
              <a:rPr lang="en-GB" altLang="en-US" sz="3600" b="1" smtClean="0"/>
              <a:t>D</a:t>
            </a:r>
            <a:r>
              <a:rPr lang="en-GB" altLang="en-US" sz="3600" smtClean="0"/>
              <a:t>ivision and </a:t>
            </a:r>
            <a:r>
              <a:rPr lang="en-GB" altLang="en-US" sz="3600" b="1" smtClean="0"/>
              <a:t>M</a:t>
            </a:r>
            <a:r>
              <a:rPr lang="en-GB" altLang="en-US" sz="3600" smtClean="0"/>
              <a:t>ultiplication, </a:t>
            </a:r>
            <a:r>
              <a:rPr lang="en-GB" altLang="en-US" sz="3600" b="1" smtClean="0"/>
              <a:t>A</a:t>
            </a:r>
            <a:r>
              <a:rPr lang="en-GB" altLang="en-US" sz="3600" smtClean="0"/>
              <a:t>ddition and </a:t>
            </a:r>
            <a:r>
              <a:rPr lang="en-GB" altLang="en-US" sz="3600" b="1" smtClean="0"/>
              <a:t>S</a:t>
            </a:r>
            <a:r>
              <a:rPr lang="en-GB" altLang="en-US" sz="3600" smtClean="0"/>
              <a:t>ubtraction</a:t>
            </a:r>
          </a:p>
        </p:txBody>
      </p:sp>
      <p:grpSp>
        <p:nvGrpSpPr>
          <p:cNvPr id="14340" name="Group 4"/>
          <p:cNvGrpSpPr>
            <a:grpSpLocks/>
          </p:cNvGrpSpPr>
          <p:nvPr/>
        </p:nvGrpSpPr>
        <p:grpSpPr bwMode="auto">
          <a:xfrm>
            <a:off x="0" y="4724400"/>
            <a:ext cx="9144000" cy="1065213"/>
            <a:chOff x="308476" y="5229200"/>
            <a:chExt cx="9077426" cy="1056997"/>
          </a:xfrm>
        </p:grpSpPr>
        <p:pic>
          <p:nvPicPr>
            <p:cNvPr id="14341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476" y="5229200"/>
              <a:ext cx="9077426" cy="1056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42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824" t="10161" r="40286" b="10043"/>
            <a:stretch>
              <a:fillRect/>
            </a:stretch>
          </p:blipFill>
          <p:spPr bwMode="auto">
            <a:xfrm>
              <a:off x="5652119" y="5261396"/>
              <a:ext cx="367947" cy="496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722240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Arithmetic Operators</a:t>
            </a:r>
          </a:p>
        </p:txBody>
      </p:sp>
      <p:graphicFrame>
        <p:nvGraphicFramePr>
          <p:cNvPr id="23594" name="Group 42"/>
          <p:cNvGraphicFramePr>
            <a:graphicFrameLocks noGrp="1"/>
          </p:cNvGraphicFramePr>
          <p:nvPr>
            <p:ph idx="1"/>
          </p:nvPr>
        </p:nvGraphicFramePr>
        <p:xfrm>
          <a:off x="457200" y="1844675"/>
          <a:ext cx="8229600" cy="3687982"/>
        </p:xfrm>
        <a:graphic>
          <a:graphicData uri="http://schemas.openxmlformats.org/drawingml/2006/table">
            <a:tbl>
              <a:tblPr/>
              <a:tblGrid>
                <a:gridCol w="2243138"/>
                <a:gridCol w="1871662"/>
                <a:gridCol w="2057400"/>
                <a:gridCol w="2057400"/>
              </a:tblGrid>
              <a:tr h="57907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Arithmetic</a:t>
                      </a:r>
                    </a:p>
                  </a:txBody>
                  <a:tcPr marT="45713" marB="45713" horzOverflow="overflow">
                    <a:lnL w="9525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Operator</a:t>
                      </a:r>
                    </a:p>
                  </a:txBody>
                  <a:tcPr marT="45713" marB="45713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Example</a:t>
                      </a:r>
                    </a:p>
                  </a:txBody>
                  <a:tcPr marT="45713" marB="45713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Output</a:t>
                      </a:r>
                    </a:p>
                  </a:txBody>
                  <a:tcPr marT="45713" marB="45713" horzOverflow="overflow">
                    <a:lnL>
                      <a:noFill/>
                    </a:lnL>
                    <a:lnR w="9525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51811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Addition</a:t>
                      </a:r>
                    </a:p>
                  </a:txBody>
                  <a:tcPr marT="45713" marB="45713" horzOverflow="overflow">
                    <a:lnL w="9525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+</a:t>
                      </a:r>
                    </a:p>
                  </a:txBody>
                  <a:tcPr marT="45713" marB="45713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cs typeface="Arial" pitchFamily="34" charset="0"/>
                        </a:rPr>
                        <a:t>2 + 10</a:t>
                      </a:r>
                    </a:p>
                  </a:txBody>
                  <a:tcPr marT="45713" marB="45713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cs typeface="Arial" pitchFamily="34" charset="0"/>
                        </a:rPr>
                        <a:t>12</a:t>
                      </a:r>
                    </a:p>
                  </a:txBody>
                  <a:tcPr marT="45713" marB="45713" horzOverflow="overflow">
                    <a:lnL>
                      <a:noFill/>
                    </a:lnL>
                    <a:lnR w="9525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1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Subtraction</a:t>
                      </a:r>
                    </a:p>
                  </a:txBody>
                  <a:tcPr marT="45713" marB="45713" horzOverflow="overflow">
                    <a:lnL w="9525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-</a:t>
                      </a:r>
                    </a:p>
                  </a:txBody>
                  <a:tcPr marT="45713" marB="45713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cs typeface="Arial" pitchFamily="34" charset="0"/>
                        </a:rPr>
                        <a:t>9 – 6</a:t>
                      </a:r>
                    </a:p>
                  </a:txBody>
                  <a:tcPr marT="45713" marB="45713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T="45713" marB="45713" horzOverflow="overflow">
                    <a:lnL>
                      <a:noFill/>
                    </a:lnL>
                    <a:lnR w="9525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1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Multiplication</a:t>
                      </a:r>
                    </a:p>
                  </a:txBody>
                  <a:tcPr marT="45713" marB="45713" horzOverflow="overflow">
                    <a:lnL w="9525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*</a:t>
                      </a:r>
                    </a:p>
                  </a:txBody>
                  <a:tcPr marT="45713" marB="45713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cs typeface="Arial" pitchFamily="34" charset="0"/>
                        </a:rPr>
                        <a:t>5 * 4</a:t>
                      </a:r>
                    </a:p>
                  </a:txBody>
                  <a:tcPr marT="45713" marB="45713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cs typeface="Arial" pitchFamily="34" charset="0"/>
                        </a:rPr>
                        <a:t>20</a:t>
                      </a:r>
                    </a:p>
                  </a:txBody>
                  <a:tcPr marT="45713" marB="45713" horzOverflow="overflow">
                    <a:lnL>
                      <a:noFill/>
                    </a:lnL>
                    <a:lnR w="9525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1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Division</a:t>
                      </a:r>
                    </a:p>
                  </a:txBody>
                  <a:tcPr marT="45713" marB="45713" horzOverflow="overflow">
                    <a:lnL w="9525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/</a:t>
                      </a:r>
                    </a:p>
                  </a:txBody>
                  <a:tcPr marT="45713" marB="45713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cs typeface="Arial" pitchFamily="34" charset="0"/>
                        </a:rPr>
                        <a:t>5 / 2</a:t>
                      </a:r>
                    </a:p>
                  </a:txBody>
                  <a:tcPr marT="45713" marB="45713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cs typeface="Arial" pitchFamily="34" charset="0"/>
                        </a:rPr>
                        <a:t>2.5</a:t>
                      </a:r>
                    </a:p>
                  </a:txBody>
                  <a:tcPr marT="45713" marB="45713" horzOverflow="overflow">
                    <a:lnL>
                      <a:noFill/>
                    </a:lnL>
                    <a:lnR w="9525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1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Floor Division</a:t>
                      </a:r>
                    </a:p>
                  </a:txBody>
                  <a:tcPr marT="45713" marB="45713" horzOverflow="overflow">
                    <a:lnL w="9525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//</a:t>
                      </a:r>
                    </a:p>
                  </a:txBody>
                  <a:tcPr marT="45713" marB="45713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cs typeface="Arial" pitchFamily="34" charset="0"/>
                        </a:rPr>
                        <a:t>7 // 2</a:t>
                      </a:r>
                    </a:p>
                  </a:txBody>
                  <a:tcPr marT="45713" marB="45713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T="45713" marB="45713" horzOverflow="overflow">
                    <a:lnL>
                      <a:noFill/>
                    </a:lnL>
                    <a:lnR w="9525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1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Remainder</a:t>
                      </a:r>
                    </a:p>
                  </a:txBody>
                  <a:tcPr marT="45713" marB="45713" horzOverflow="overflow">
                    <a:lnL w="9525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%</a:t>
                      </a:r>
                    </a:p>
                  </a:txBody>
                  <a:tcPr marT="45713" marB="45713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cs typeface="Arial" pitchFamily="34" charset="0"/>
                        </a:rPr>
                        <a:t>7 % 3</a:t>
                      </a:r>
                    </a:p>
                  </a:txBody>
                  <a:tcPr marT="45713" marB="45713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  <a:cs typeface="Arial" pitchFamily="34" charset="0"/>
                        </a:rPr>
                        <a:t>1</a:t>
                      </a:r>
                    </a:p>
                  </a:txBody>
                  <a:tcPr marT="45713" marB="45713" horzOverflow="overflow">
                    <a:lnL>
                      <a:noFill/>
                    </a:lnL>
                    <a:lnR w="9525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5758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Sleep Calculator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Create a program to calculate how many hours per week you sleep</a:t>
            </a:r>
          </a:p>
          <a:p>
            <a:pPr eaLnBrk="1" hangingPunct="1"/>
            <a:r>
              <a:rPr lang="en-GB" altLang="en-US" smtClean="0"/>
              <a:t>Try this code and find the problem!</a:t>
            </a:r>
          </a:p>
          <a:p>
            <a:pPr marL="400050" lvl="1" indent="0" eaLnBrk="1" hangingPunct="1">
              <a:buFont typeface="Arial" pitchFamily="34" charset="0"/>
              <a:buNone/>
            </a:pPr>
            <a:endParaRPr lang="en-GB" altLang="en-US" sz="1600" smtClean="0">
              <a:latin typeface="Consolas" pitchFamily="49" charset="0"/>
            </a:endParaRPr>
          </a:p>
          <a:p>
            <a:pPr marL="400050" lvl="1" indent="0" eaLnBrk="1" hangingPunct="1">
              <a:buFont typeface="Arial" pitchFamily="34" charset="0"/>
              <a:buNone/>
            </a:pPr>
            <a:r>
              <a:rPr lang="en-GB" altLang="en-US" sz="2400" smtClean="0">
                <a:latin typeface="Consolas" pitchFamily="49" charset="0"/>
              </a:rPr>
              <a:t>hourspernight = </a:t>
            </a:r>
            <a:r>
              <a:rPr lang="en-GB" altLang="en-US" sz="2400" smtClean="0">
                <a:solidFill>
                  <a:srgbClr val="7030A0"/>
                </a:solidFill>
                <a:latin typeface="Consolas" pitchFamily="49" charset="0"/>
              </a:rPr>
              <a:t>input</a:t>
            </a:r>
            <a:r>
              <a:rPr lang="en-GB" altLang="en-US" sz="2400" smtClean="0">
                <a:latin typeface="Consolas" pitchFamily="49" charset="0"/>
              </a:rPr>
              <a:t>(</a:t>
            </a:r>
            <a:r>
              <a:rPr lang="en-GB" altLang="en-US" sz="2400" smtClean="0">
                <a:solidFill>
                  <a:srgbClr val="00B050"/>
                </a:solidFill>
                <a:latin typeface="Consolas" pitchFamily="49" charset="0"/>
              </a:rPr>
              <a:t>"How many hours per night do you sleep? "</a:t>
            </a:r>
            <a:r>
              <a:rPr lang="en-GB" altLang="en-US" sz="2400" smtClean="0">
                <a:latin typeface="Consolas" pitchFamily="49" charset="0"/>
              </a:rPr>
              <a:t>)</a:t>
            </a:r>
          </a:p>
          <a:p>
            <a:pPr marL="400050" lvl="1" indent="0" eaLnBrk="1" hangingPunct="1">
              <a:buFont typeface="Arial" pitchFamily="34" charset="0"/>
              <a:buNone/>
            </a:pPr>
            <a:r>
              <a:rPr lang="en-GB" altLang="en-US" sz="2400" smtClean="0">
                <a:latin typeface="Consolas" pitchFamily="49" charset="0"/>
              </a:rPr>
              <a:t>hoursperweek = hourspernight * 7</a:t>
            </a:r>
          </a:p>
          <a:p>
            <a:pPr marL="400050" lvl="1" indent="0" eaLnBrk="1" hangingPunct="1">
              <a:buFont typeface="Arial" pitchFamily="34" charset="0"/>
              <a:buNone/>
            </a:pPr>
            <a:r>
              <a:rPr lang="en-GB" altLang="en-US" sz="2400" smtClean="0">
                <a:solidFill>
                  <a:srgbClr val="7030A0"/>
                </a:solidFill>
                <a:latin typeface="Consolas" pitchFamily="49" charset="0"/>
              </a:rPr>
              <a:t>print</a:t>
            </a:r>
            <a:r>
              <a:rPr lang="en-GB" altLang="en-US" sz="2400" smtClean="0">
                <a:latin typeface="Consolas" pitchFamily="49" charset="0"/>
              </a:rPr>
              <a:t> (</a:t>
            </a:r>
            <a:r>
              <a:rPr lang="en-GB" altLang="en-US" sz="2400" smtClean="0">
                <a:solidFill>
                  <a:srgbClr val="00B050"/>
                </a:solidFill>
                <a:latin typeface="Consolas" pitchFamily="49" charset="0"/>
              </a:rPr>
              <a:t>"You sleep"</a:t>
            </a:r>
            <a:r>
              <a:rPr lang="en-GB" altLang="en-US" sz="2400" smtClean="0">
                <a:latin typeface="Consolas" pitchFamily="49" charset="0"/>
              </a:rPr>
              <a:t>,hoursperweek,</a:t>
            </a:r>
            <a:r>
              <a:rPr lang="en-GB" altLang="en-US" sz="2400" smtClean="0">
                <a:solidFill>
                  <a:srgbClr val="00B050"/>
                </a:solidFill>
                <a:latin typeface="Consolas" pitchFamily="49" charset="0"/>
              </a:rPr>
              <a:t>"hours per week"</a:t>
            </a:r>
            <a:r>
              <a:rPr lang="en-GB" altLang="en-US" sz="2400" smtClean="0">
                <a:latin typeface="Consolas" pitchFamily="49" charset="0"/>
              </a:rPr>
              <a:t>)</a:t>
            </a:r>
          </a:p>
          <a:p>
            <a:pPr marL="400050" lvl="1" indent="0" eaLnBrk="1" hangingPunct="1">
              <a:buFont typeface="Arial" pitchFamily="34" charset="0"/>
              <a:buNone/>
            </a:pPr>
            <a:endParaRPr lang="en-GB" altLang="en-US" sz="2400" smtClean="0">
              <a:latin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9484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Sleep Calculator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Add to the problem to find the total number of hours spent sleeping in a month</a:t>
            </a:r>
          </a:p>
          <a:p>
            <a:pPr eaLnBrk="1" hangingPunct="1"/>
            <a:r>
              <a:rPr lang="en-GB" altLang="en-US" smtClean="0"/>
              <a:t>Assume an average of 4.35 weeks per month</a:t>
            </a:r>
          </a:p>
          <a:p>
            <a:pPr marL="400050" lvl="1" indent="0" eaLnBrk="1" hangingPunct="1">
              <a:buFont typeface="Arial" pitchFamily="34" charset="0"/>
              <a:buNone/>
            </a:pPr>
            <a:endParaRPr lang="en-GB" altLang="en-US" sz="1600" smtClean="0">
              <a:latin typeface="Consolas" pitchFamily="49" charset="0"/>
            </a:endParaRPr>
          </a:p>
          <a:p>
            <a:pPr marL="400050" lvl="1" indent="0" eaLnBrk="1" hangingPunct="1">
              <a:buFont typeface="Arial" pitchFamily="34" charset="0"/>
              <a:buNone/>
            </a:pPr>
            <a:r>
              <a:rPr lang="en-GB" altLang="en-US" sz="1700" smtClean="0">
                <a:latin typeface="Consolas" pitchFamily="49" charset="0"/>
              </a:rPr>
              <a:t>hourspernight = </a:t>
            </a:r>
            <a:r>
              <a:rPr lang="en-GB" altLang="en-US" sz="1700" smtClean="0">
                <a:solidFill>
                  <a:srgbClr val="7030A0"/>
                </a:solidFill>
                <a:latin typeface="Consolas" pitchFamily="49" charset="0"/>
              </a:rPr>
              <a:t>input</a:t>
            </a:r>
            <a:r>
              <a:rPr lang="en-GB" altLang="en-US" sz="1700" smtClean="0">
                <a:latin typeface="Consolas" pitchFamily="49" charset="0"/>
              </a:rPr>
              <a:t>(</a:t>
            </a:r>
            <a:r>
              <a:rPr lang="en-GB" altLang="en-US" sz="1700" smtClean="0">
                <a:solidFill>
                  <a:srgbClr val="00B050"/>
                </a:solidFill>
                <a:latin typeface="Consolas" pitchFamily="49" charset="0"/>
              </a:rPr>
              <a:t>"How many hours per night do you sleep? "</a:t>
            </a:r>
            <a:r>
              <a:rPr lang="en-GB" altLang="en-US" sz="1700" smtClean="0">
                <a:latin typeface="Consolas" pitchFamily="49" charset="0"/>
              </a:rPr>
              <a:t>)</a:t>
            </a:r>
          </a:p>
          <a:p>
            <a:pPr marL="400050" lvl="1" indent="0" eaLnBrk="1" hangingPunct="1">
              <a:buFont typeface="Arial" pitchFamily="34" charset="0"/>
              <a:buNone/>
            </a:pPr>
            <a:r>
              <a:rPr lang="en-GB" altLang="en-US" sz="1700" smtClean="0">
                <a:latin typeface="Consolas" pitchFamily="49" charset="0"/>
              </a:rPr>
              <a:t>hoursperweek = </a:t>
            </a:r>
            <a:r>
              <a:rPr lang="en-GB" altLang="en-US" sz="1700" smtClean="0">
                <a:solidFill>
                  <a:srgbClr val="7030A0"/>
                </a:solidFill>
                <a:latin typeface="Consolas" pitchFamily="49" charset="0"/>
              </a:rPr>
              <a:t>int</a:t>
            </a:r>
            <a:r>
              <a:rPr lang="en-GB" altLang="en-US" sz="1700" smtClean="0">
                <a:latin typeface="Consolas" pitchFamily="49" charset="0"/>
              </a:rPr>
              <a:t>(hourspernight) * 7</a:t>
            </a:r>
          </a:p>
          <a:p>
            <a:pPr marL="400050" lvl="1" indent="0" eaLnBrk="1" hangingPunct="1">
              <a:buFont typeface="Arial" pitchFamily="34" charset="0"/>
              <a:buNone/>
            </a:pPr>
            <a:r>
              <a:rPr lang="en-GB" altLang="en-US" sz="1700" smtClean="0">
                <a:solidFill>
                  <a:srgbClr val="7030A0"/>
                </a:solidFill>
                <a:latin typeface="Consolas" pitchFamily="49" charset="0"/>
              </a:rPr>
              <a:t>print</a:t>
            </a:r>
            <a:r>
              <a:rPr lang="en-GB" altLang="en-US" sz="1700" smtClean="0">
                <a:latin typeface="Consolas" pitchFamily="49" charset="0"/>
              </a:rPr>
              <a:t> (</a:t>
            </a:r>
            <a:r>
              <a:rPr lang="en-GB" altLang="en-US" sz="1700" smtClean="0">
                <a:solidFill>
                  <a:srgbClr val="00B050"/>
                </a:solidFill>
                <a:latin typeface="Consolas" pitchFamily="49" charset="0"/>
              </a:rPr>
              <a:t>"You sleep"</a:t>
            </a:r>
            <a:r>
              <a:rPr lang="en-GB" altLang="en-US" sz="1700" smtClean="0">
                <a:latin typeface="Consolas" pitchFamily="49" charset="0"/>
              </a:rPr>
              <a:t>,hoursperweek,</a:t>
            </a:r>
            <a:r>
              <a:rPr lang="en-GB" altLang="en-US" sz="1700" smtClean="0">
                <a:solidFill>
                  <a:srgbClr val="00B050"/>
                </a:solidFill>
                <a:latin typeface="Consolas" pitchFamily="49" charset="0"/>
              </a:rPr>
              <a:t>"hours per week"</a:t>
            </a:r>
            <a:r>
              <a:rPr lang="en-GB" altLang="en-US" sz="1700" smtClean="0">
                <a:latin typeface="Consolas" pitchFamily="49" charset="0"/>
              </a:rPr>
              <a:t>)</a:t>
            </a:r>
          </a:p>
          <a:p>
            <a:pPr marL="400050" lvl="1" indent="0" eaLnBrk="1" hangingPunct="1">
              <a:buFont typeface="Arial" pitchFamily="34" charset="0"/>
              <a:buNone/>
            </a:pPr>
            <a:endParaRPr lang="en-GB" altLang="en-US" sz="1700" smtClean="0">
              <a:latin typeface="Consolas" pitchFamily="49" charset="0"/>
            </a:endParaRPr>
          </a:p>
          <a:p>
            <a:pPr marL="400050" lvl="1" indent="0" eaLnBrk="1" hangingPunct="1">
              <a:buFont typeface="Arial" pitchFamily="34" charset="0"/>
              <a:buNone/>
            </a:pPr>
            <a:r>
              <a:rPr lang="en-GB" altLang="en-US" sz="1700" smtClean="0">
                <a:latin typeface="Consolas" pitchFamily="49" charset="0"/>
              </a:rPr>
              <a:t>hourspermonth = </a:t>
            </a:r>
            <a:r>
              <a:rPr lang="en-GB" altLang="en-US" sz="1700" smtClean="0">
                <a:solidFill>
                  <a:srgbClr val="7030A0"/>
                </a:solidFill>
                <a:latin typeface="Consolas" pitchFamily="49" charset="0"/>
              </a:rPr>
              <a:t>float</a:t>
            </a:r>
            <a:r>
              <a:rPr lang="en-GB" altLang="en-US" sz="1700" smtClean="0">
                <a:latin typeface="Consolas" pitchFamily="49" charset="0"/>
              </a:rPr>
              <a:t>(hoursperweek) * 4.35</a:t>
            </a:r>
          </a:p>
          <a:p>
            <a:pPr marL="400050" lvl="1" indent="0" eaLnBrk="1" hangingPunct="1">
              <a:buFont typeface="Arial" pitchFamily="34" charset="0"/>
              <a:buNone/>
            </a:pPr>
            <a:r>
              <a:rPr lang="en-GB" altLang="en-US" sz="1700" smtClean="0">
                <a:solidFill>
                  <a:srgbClr val="7030A0"/>
                </a:solidFill>
                <a:latin typeface="Consolas" pitchFamily="49" charset="0"/>
              </a:rPr>
              <a:t>print</a:t>
            </a:r>
            <a:r>
              <a:rPr lang="en-GB" altLang="en-US" sz="1700" smtClean="0">
                <a:latin typeface="Consolas" pitchFamily="49" charset="0"/>
              </a:rPr>
              <a:t> (</a:t>
            </a:r>
            <a:r>
              <a:rPr lang="en-GB" altLang="en-US" sz="1700" smtClean="0">
                <a:solidFill>
                  <a:srgbClr val="00B050"/>
                </a:solidFill>
                <a:latin typeface="Consolas" pitchFamily="49" charset="0"/>
              </a:rPr>
              <a:t>"You sleep"</a:t>
            </a:r>
            <a:r>
              <a:rPr lang="en-GB" altLang="en-US" sz="1700" smtClean="0">
                <a:latin typeface="Consolas" pitchFamily="49" charset="0"/>
              </a:rPr>
              <a:t>,hourspermonth,</a:t>
            </a:r>
            <a:r>
              <a:rPr lang="en-GB" altLang="en-US" sz="1700" smtClean="0">
                <a:solidFill>
                  <a:srgbClr val="00B050"/>
                </a:solidFill>
                <a:latin typeface="Consolas" pitchFamily="49" charset="0"/>
              </a:rPr>
              <a:t>"hours per month"</a:t>
            </a:r>
            <a:r>
              <a:rPr lang="en-GB" altLang="en-US" sz="1700" smtClean="0">
                <a:latin typeface="Consolas" pitchFamily="49" charset="0"/>
              </a:rPr>
              <a:t>)</a:t>
            </a:r>
          </a:p>
          <a:p>
            <a:pPr marL="400050" lvl="1" indent="0" eaLnBrk="1" hangingPunct="1">
              <a:buFont typeface="Arial" pitchFamily="34" charset="0"/>
              <a:buNone/>
            </a:pPr>
            <a:endParaRPr lang="en-GB" altLang="en-US" sz="1700" smtClean="0">
              <a:latin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962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Sleep Calculator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Now find the equivalent number of days per month you sleep for!</a:t>
            </a:r>
          </a:p>
        </p:txBody>
      </p:sp>
      <p:pic>
        <p:nvPicPr>
          <p:cNvPr id="18436" name="Picture 5" descr="http://edplace.com/userfiles/image/hibernating%20hedgehog.jp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28" b="6294"/>
          <a:stretch>
            <a:fillRect/>
          </a:stretch>
        </p:blipFill>
        <p:spPr bwMode="auto">
          <a:xfrm>
            <a:off x="1970088" y="2997200"/>
            <a:ext cx="4762500" cy="352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86856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Rounding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hourspermonth = 228.37499999999997</a:t>
            </a:r>
          </a:p>
          <a:p>
            <a:pPr eaLnBrk="1" hangingPunct="1"/>
            <a:r>
              <a:rPr lang="en-GB" altLang="en-US" smtClean="0">
                <a:solidFill>
                  <a:srgbClr val="7030A0"/>
                </a:solidFill>
                <a:latin typeface="Consolas" pitchFamily="49" charset="0"/>
              </a:rPr>
              <a:t>round</a:t>
            </a:r>
            <a:r>
              <a:rPr lang="en-GB" altLang="en-US" smtClean="0">
                <a:latin typeface="Consolas" pitchFamily="49" charset="0"/>
              </a:rPr>
              <a:t>(hourspermonth) = 228</a:t>
            </a:r>
          </a:p>
          <a:p>
            <a:pPr eaLnBrk="1" hangingPunct="1"/>
            <a:r>
              <a:rPr lang="en-GB" altLang="en-US" smtClean="0">
                <a:solidFill>
                  <a:srgbClr val="7030A0"/>
                </a:solidFill>
                <a:latin typeface="Consolas" pitchFamily="49" charset="0"/>
              </a:rPr>
              <a:t>round</a:t>
            </a:r>
            <a:r>
              <a:rPr lang="en-GB" altLang="en-US" smtClean="0">
                <a:latin typeface="Consolas" pitchFamily="49" charset="0"/>
              </a:rPr>
              <a:t>(hourspermonth,2) = 228.37</a:t>
            </a:r>
          </a:p>
          <a:p>
            <a:pPr marL="400050" lvl="1" indent="0" eaLnBrk="1" hangingPunct="1">
              <a:buFont typeface="Arial" pitchFamily="34" charset="0"/>
              <a:buNone/>
            </a:pPr>
            <a:endParaRPr lang="en-GB" altLang="en-US" sz="1600" smtClean="0">
              <a:latin typeface="Consolas" pitchFamily="49" charset="0"/>
            </a:endParaRPr>
          </a:p>
          <a:p>
            <a:pPr marL="400050" lvl="1" indent="0" eaLnBrk="1" hangingPunct="1">
              <a:buFont typeface="Arial" pitchFamily="34" charset="0"/>
              <a:buNone/>
            </a:pPr>
            <a:r>
              <a:rPr lang="en-GB" altLang="en-US" sz="1700" smtClean="0">
                <a:latin typeface="Consolas" pitchFamily="49" charset="0"/>
              </a:rPr>
              <a:t>hourspernight = </a:t>
            </a:r>
            <a:r>
              <a:rPr lang="en-GB" altLang="en-US" sz="1700" smtClean="0">
                <a:solidFill>
                  <a:srgbClr val="7030A0"/>
                </a:solidFill>
                <a:latin typeface="Consolas" pitchFamily="49" charset="0"/>
              </a:rPr>
              <a:t>input</a:t>
            </a:r>
            <a:r>
              <a:rPr lang="en-GB" altLang="en-US" sz="1700" smtClean="0">
                <a:latin typeface="Consolas" pitchFamily="49" charset="0"/>
              </a:rPr>
              <a:t>(</a:t>
            </a:r>
            <a:r>
              <a:rPr lang="en-GB" altLang="en-US" sz="1700" smtClean="0">
                <a:solidFill>
                  <a:srgbClr val="00B050"/>
                </a:solidFill>
                <a:latin typeface="Consolas" pitchFamily="49" charset="0"/>
              </a:rPr>
              <a:t>"How many hours per night do you sleep? "</a:t>
            </a:r>
            <a:r>
              <a:rPr lang="en-GB" altLang="en-US" sz="1700" smtClean="0">
                <a:latin typeface="Consolas" pitchFamily="49" charset="0"/>
              </a:rPr>
              <a:t>)</a:t>
            </a:r>
          </a:p>
          <a:p>
            <a:pPr marL="400050" lvl="1" indent="0" eaLnBrk="1" hangingPunct="1">
              <a:buFont typeface="Arial" pitchFamily="34" charset="0"/>
              <a:buNone/>
            </a:pPr>
            <a:r>
              <a:rPr lang="en-GB" altLang="en-US" sz="1700" smtClean="0">
                <a:latin typeface="Consolas" pitchFamily="49" charset="0"/>
              </a:rPr>
              <a:t>hoursperweek = </a:t>
            </a:r>
            <a:r>
              <a:rPr lang="en-GB" altLang="en-US" sz="1700" smtClean="0">
                <a:solidFill>
                  <a:srgbClr val="7030A0"/>
                </a:solidFill>
                <a:latin typeface="Consolas" pitchFamily="49" charset="0"/>
              </a:rPr>
              <a:t>int</a:t>
            </a:r>
            <a:r>
              <a:rPr lang="en-GB" altLang="en-US" sz="1700" smtClean="0">
                <a:latin typeface="Consolas" pitchFamily="49" charset="0"/>
              </a:rPr>
              <a:t>(hourspernight) * 7</a:t>
            </a:r>
          </a:p>
          <a:p>
            <a:pPr marL="400050" lvl="1" indent="0" eaLnBrk="1" hangingPunct="1">
              <a:buFont typeface="Arial" pitchFamily="34" charset="0"/>
              <a:buNone/>
            </a:pPr>
            <a:r>
              <a:rPr lang="en-GB" altLang="en-US" sz="1700" smtClean="0">
                <a:latin typeface="Consolas" pitchFamily="49" charset="0"/>
              </a:rPr>
              <a:t>hourspermonth = round(hourspermonth)</a:t>
            </a:r>
          </a:p>
          <a:p>
            <a:pPr marL="400050" lvl="1" indent="0" eaLnBrk="1" hangingPunct="1">
              <a:buFont typeface="Arial" pitchFamily="34" charset="0"/>
              <a:buNone/>
            </a:pPr>
            <a:r>
              <a:rPr lang="en-GB" altLang="en-US" sz="1700" smtClean="0">
                <a:solidFill>
                  <a:srgbClr val="7030A0"/>
                </a:solidFill>
                <a:latin typeface="Consolas" pitchFamily="49" charset="0"/>
              </a:rPr>
              <a:t>print</a:t>
            </a:r>
            <a:r>
              <a:rPr lang="en-GB" altLang="en-US" sz="1700" smtClean="0">
                <a:latin typeface="Consolas" pitchFamily="49" charset="0"/>
              </a:rPr>
              <a:t> (</a:t>
            </a:r>
            <a:r>
              <a:rPr lang="en-GB" altLang="en-US" sz="1700" smtClean="0">
                <a:solidFill>
                  <a:srgbClr val="00B050"/>
                </a:solidFill>
                <a:latin typeface="Consolas" pitchFamily="49" charset="0"/>
              </a:rPr>
              <a:t>"You sleep"</a:t>
            </a:r>
            <a:r>
              <a:rPr lang="en-GB" altLang="en-US" sz="1700" smtClean="0">
                <a:latin typeface="Consolas" pitchFamily="49" charset="0"/>
              </a:rPr>
              <a:t>,hoursperweek,</a:t>
            </a:r>
            <a:r>
              <a:rPr lang="en-GB" altLang="en-US" sz="1700" smtClean="0">
                <a:solidFill>
                  <a:srgbClr val="00B050"/>
                </a:solidFill>
                <a:latin typeface="Consolas" pitchFamily="49" charset="0"/>
              </a:rPr>
              <a:t>"hours per week"</a:t>
            </a:r>
            <a:r>
              <a:rPr lang="en-GB" altLang="en-US" sz="1700" smtClean="0">
                <a:latin typeface="Consolas" pitchFamily="49" charset="0"/>
              </a:rPr>
              <a:t>)</a:t>
            </a:r>
          </a:p>
          <a:p>
            <a:pPr marL="400050" lvl="1" indent="0" eaLnBrk="1" hangingPunct="1">
              <a:buFont typeface="Arial" pitchFamily="34" charset="0"/>
              <a:buNone/>
            </a:pPr>
            <a:endParaRPr lang="en-GB" altLang="en-US" sz="1700" smtClean="0">
              <a:latin typeface="Consolas" pitchFamily="49" charset="0"/>
            </a:endParaRPr>
          </a:p>
          <a:p>
            <a:pPr marL="400050" lvl="1" indent="0" eaLnBrk="1" hangingPunct="1">
              <a:buFont typeface="Arial" pitchFamily="34" charset="0"/>
              <a:buNone/>
            </a:pPr>
            <a:r>
              <a:rPr lang="en-GB" altLang="en-US" sz="1700" smtClean="0">
                <a:latin typeface="Consolas" pitchFamily="49" charset="0"/>
              </a:rPr>
              <a:t>hourspermonth = </a:t>
            </a:r>
            <a:r>
              <a:rPr lang="en-GB" altLang="en-US" sz="1700" smtClean="0">
                <a:solidFill>
                  <a:srgbClr val="7030A0"/>
                </a:solidFill>
                <a:latin typeface="Consolas" pitchFamily="49" charset="0"/>
              </a:rPr>
              <a:t>float</a:t>
            </a:r>
            <a:r>
              <a:rPr lang="en-GB" altLang="en-US" sz="1700" smtClean="0">
                <a:latin typeface="Consolas" pitchFamily="49" charset="0"/>
              </a:rPr>
              <a:t>(hoursperweek) * 4.35</a:t>
            </a:r>
          </a:p>
          <a:p>
            <a:pPr marL="400050" lvl="1" indent="0" eaLnBrk="1" hangingPunct="1">
              <a:buFont typeface="Arial" pitchFamily="34" charset="0"/>
              <a:buNone/>
            </a:pPr>
            <a:r>
              <a:rPr lang="en-GB" altLang="en-US" sz="1700" smtClean="0">
                <a:solidFill>
                  <a:srgbClr val="7030A0"/>
                </a:solidFill>
                <a:latin typeface="Consolas" pitchFamily="49" charset="0"/>
              </a:rPr>
              <a:t>print</a:t>
            </a:r>
            <a:r>
              <a:rPr lang="en-GB" altLang="en-US" sz="1700" smtClean="0">
                <a:latin typeface="Consolas" pitchFamily="49" charset="0"/>
              </a:rPr>
              <a:t> (</a:t>
            </a:r>
            <a:r>
              <a:rPr lang="en-GB" altLang="en-US" sz="1700" smtClean="0">
                <a:solidFill>
                  <a:srgbClr val="00B050"/>
                </a:solidFill>
                <a:latin typeface="Consolas" pitchFamily="49" charset="0"/>
              </a:rPr>
              <a:t>“\nYou sleep"</a:t>
            </a:r>
            <a:r>
              <a:rPr lang="en-GB" altLang="en-US" sz="1700" smtClean="0">
                <a:latin typeface="Consolas" pitchFamily="49" charset="0"/>
              </a:rPr>
              <a:t>,hourspermonth,</a:t>
            </a:r>
            <a:r>
              <a:rPr lang="en-GB" altLang="en-US" sz="1700" smtClean="0">
                <a:solidFill>
                  <a:srgbClr val="00B050"/>
                </a:solidFill>
                <a:latin typeface="Consolas" pitchFamily="49" charset="0"/>
              </a:rPr>
              <a:t>"hours per month"</a:t>
            </a:r>
            <a:r>
              <a:rPr lang="en-GB" altLang="en-US" sz="1700" smtClean="0">
                <a:latin typeface="Consolas" pitchFamily="49" charset="0"/>
              </a:rPr>
              <a:t>)</a:t>
            </a:r>
          </a:p>
          <a:p>
            <a:pPr marL="400050" lvl="1" indent="0" eaLnBrk="1" hangingPunct="1">
              <a:buFont typeface="Arial" pitchFamily="34" charset="0"/>
              <a:buNone/>
            </a:pPr>
            <a:endParaRPr lang="en-GB" altLang="en-US" sz="1700" smtClean="0">
              <a:latin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43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Finishing 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dirty="0" smtClean="0"/>
              <a:t>Display a title for your program when it first runs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GB" dirty="0" smtClean="0"/>
              <a:t>Calculate the number of days per year spent asleep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GB" dirty="0" smtClean="0"/>
              <a:t>Include the user’s name to make it more user friendly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GB" dirty="0" smtClean="0"/>
          </a:p>
          <a:p>
            <a:pPr marL="400050" lvl="1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GB" sz="17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684213" y="5229225"/>
            <a:ext cx="77851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GB" altLang="en-US" sz="6000" b="1">
                <a:solidFill>
                  <a:srgbClr val="00B0F0"/>
                </a:solidFill>
                <a:latin typeface="Consolas" pitchFamily="49" charset="0"/>
              </a:rPr>
              <a:t>***** Hello! *****</a:t>
            </a:r>
          </a:p>
        </p:txBody>
      </p:sp>
    </p:spTree>
    <p:extLst>
      <p:ext uri="{BB962C8B-B14F-4D97-AF65-F5344CB8AC3E}">
        <p14:creationId xmlns:p14="http://schemas.microsoft.com/office/powerpoint/2010/main" val="1135442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Calculating Mobile Phone Costs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Create code for an app to do the following:</a:t>
            </a:r>
          </a:p>
          <a:p>
            <a:pPr lvl="1" eaLnBrk="1" hangingPunct="1"/>
            <a:r>
              <a:rPr lang="en-GB" altLang="en-US" smtClean="0"/>
              <a:t>Accept the user’s name and mobile phone network</a:t>
            </a:r>
          </a:p>
          <a:p>
            <a:pPr lvl="1" eaLnBrk="1" hangingPunct="1"/>
            <a:r>
              <a:rPr lang="en-GB" altLang="en-US" smtClean="0"/>
              <a:t>Ask for the number of minutes they have used this month and multiply that by 0.10 per minute</a:t>
            </a:r>
          </a:p>
          <a:p>
            <a:pPr lvl="1" eaLnBrk="1" hangingPunct="1"/>
            <a:r>
              <a:rPr lang="en-GB" altLang="en-US" smtClean="0"/>
              <a:t>Ask for the number of texts that they have sent in a month and multiply that by 0.05 pence per text</a:t>
            </a:r>
          </a:p>
          <a:p>
            <a:pPr lvl="1" eaLnBrk="1" hangingPunct="1"/>
            <a:r>
              <a:rPr lang="en-GB" altLang="en-US" smtClean="0"/>
              <a:t>Display a total bill amount for the month</a:t>
            </a:r>
          </a:p>
          <a:p>
            <a:pPr lvl="1" eaLnBrk="1" hangingPunct="1"/>
            <a:r>
              <a:rPr lang="en-GB" altLang="en-US" smtClean="0"/>
              <a:t>Displays a new total including VAT of 20%</a:t>
            </a:r>
          </a:p>
          <a:p>
            <a:pPr lvl="1" eaLnBrk="1" hangingPunct="1"/>
            <a:endParaRPr lang="en-GB" altLang="en-US" smtClean="0"/>
          </a:p>
        </p:txBody>
      </p:sp>
    </p:spTree>
    <p:extLst>
      <p:ext uri="{BB962C8B-B14F-4D97-AF65-F5344CB8AC3E}">
        <p14:creationId xmlns:p14="http://schemas.microsoft.com/office/powerpoint/2010/main" val="1072323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GOnline PP Guide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PGOnline PP Guide Template</Template>
  <TotalTime>14</TotalTime>
  <Words>667</Words>
  <Application>Microsoft Office PowerPoint</Application>
  <PresentationFormat>On-screen Show (4:3)</PresentationFormat>
  <Paragraphs>138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Museo 300</vt:lpstr>
      <vt:lpstr>Calibri</vt:lpstr>
      <vt:lpstr>Arial</vt:lpstr>
      <vt:lpstr>Consolas</vt:lpstr>
      <vt:lpstr>Museo 700</vt:lpstr>
      <vt:lpstr>PGOnline PP Guide Template</vt:lpstr>
      <vt:lpstr>Numbers and Arithmetic</vt:lpstr>
      <vt:lpstr>Learning Objectives</vt:lpstr>
      <vt:lpstr>What does this program do?</vt:lpstr>
      <vt:lpstr>Data Types</vt:lpstr>
      <vt:lpstr>Defining Variable Data Types</vt:lpstr>
      <vt:lpstr>Choosing Data Types</vt:lpstr>
      <vt:lpstr>The Importance of Data Types</vt:lpstr>
      <vt:lpstr>Assignment Statements</vt:lpstr>
      <vt:lpstr>BIDMAS</vt:lpstr>
      <vt:lpstr>Arithmetic Operators</vt:lpstr>
      <vt:lpstr>Sleep Calculator</vt:lpstr>
      <vt:lpstr>Sleep Calculator</vt:lpstr>
      <vt:lpstr>Sleep Calculator</vt:lpstr>
      <vt:lpstr>Rounding</vt:lpstr>
      <vt:lpstr>Finishing off</vt:lpstr>
      <vt:lpstr>Calculating Mobile Phone Costs</vt:lpstr>
    </vt:vector>
  </TitlesOfParts>
  <Company>PG Online Ltd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Numbers and Arithmetic</dc:title>
  <dc:creator/>
  <cp:lastModifiedBy>Shakir Laher</cp:lastModifiedBy>
  <cp:revision>5</cp:revision>
  <dcterms:created xsi:type="dcterms:W3CDTF">2013-11-02T09:20:48Z</dcterms:created>
  <dcterms:modified xsi:type="dcterms:W3CDTF">2016-09-01T08:16:48Z</dcterms:modified>
</cp:coreProperties>
</file>