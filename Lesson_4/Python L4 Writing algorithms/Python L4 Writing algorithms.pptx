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useo 300" panose="02000000000000000000" charset="0"/>
      <p:regular r:id="rId23"/>
    </p:embeddedFont>
    <p:embeddedFont>
      <p:font typeface="Museo 700" panose="02000000000000000000" charset="0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F2E"/>
    <a:srgbClr val="B3CCFF"/>
    <a:srgbClr val="002060"/>
    <a:srgbClr val="1B70ED"/>
    <a:srgbClr val="0C2026"/>
    <a:srgbClr val="31859C"/>
    <a:srgbClr val="003F46"/>
    <a:srgbClr val="420614"/>
    <a:srgbClr val="780A24"/>
    <a:srgbClr val="F32D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4F219-C1DF-4FA2-934F-7FCC0F40A51B}" type="datetimeFigureOut">
              <a:rPr lang="en-GB" smtClean="0"/>
              <a:t>30/10/2021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3CC9A-FFDE-4901-B8F4-12576DAC0B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98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37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2608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633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799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27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405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004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821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487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059" y="1662253"/>
            <a:ext cx="9144000" cy="1038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700808"/>
            <a:ext cx="9144000" cy="4464496"/>
          </a:xfrm>
          <a:prstGeom prst="rect">
            <a:avLst/>
          </a:prstGeom>
          <a:gradFill>
            <a:gsLst>
              <a:gs pos="88000">
                <a:srgbClr val="1B70ED"/>
              </a:gs>
              <a:gs pos="0">
                <a:srgbClr val="1B70ED">
                  <a:lumMod val="70000"/>
                </a:srgbClr>
              </a:gs>
              <a:gs pos="100000">
                <a:srgbClr val="1B70ED">
                  <a:lumMod val="70000"/>
                </a:srgbClr>
              </a:gs>
              <a:gs pos="14000">
                <a:srgbClr val="1B70E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747592"/>
            <a:ext cx="6400800" cy="9856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GB" sz="4400" b="0" kern="1200" baseline="0" dirty="0">
                <a:solidFill>
                  <a:srgbClr val="002060"/>
                </a:solidFill>
                <a:latin typeface="Museo 300" panose="02000000000000000000" pitchFamily="2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Unit Name</a:t>
            </a:r>
            <a:endParaRPr lang="en-GB" dirty="0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112938"/>
            <a:ext cx="8229600" cy="752499"/>
          </a:xfrm>
          <a:prstGeom prst="rect">
            <a:avLst/>
          </a:prstGeom>
        </p:spPr>
        <p:txBody>
          <a:bodyPr/>
          <a:lstStyle>
            <a:lvl1pPr>
              <a:defRPr lang="en-GB" sz="9600" b="1" kern="1200" dirty="0">
                <a:solidFill>
                  <a:schemeClr val="bg1"/>
                </a:solidFill>
                <a:latin typeface="Museo 700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Lesson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3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1851"/>
            <a:ext cx="8229600" cy="88297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7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0800000">
            <a:off x="-70718" y="639105"/>
            <a:ext cx="9235440" cy="114202"/>
          </a:xfrm>
          <a:prstGeom prst="rect">
            <a:avLst/>
          </a:prstGeom>
          <a:solidFill>
            <a:srgbClr val="0C2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  <a:latin typeface="Museo 300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 rot="10800000">
            <a:off x="-67628" y="-1983"/>
            <a:ext cx="9235440" cy="712879"/>
          </a:xfrm>
          <a:prstGeom prst="rect">
            <a:avLst/>
          </a:prstGeom>
          <a:solidFill>
            <a:srgbClr val="1B7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64526" y="28487"/>
            <a:ext cx="4487944" cy="63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Introduction to Python</a:t>
            </a:r>
            <a:b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</a:b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B3CC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L4 Writing Algorithms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rgbClr val="B3CCFF"/>
              </a:solidFill>
              <a:effectLst/>
              <a:latin typeface="Museo 300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F2E"/>
                </a:solidFill>
              </a:rPr>
              <a:t>Introduction to Python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sz="8000" dirty="0"/>
              <a:t>Writing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71052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61852"/>
            <a:ext cx="8229600" cy="882973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dirty="0"/>
              <a:t>Learning Objectives</a:t>
            </a:r>
          </a:p>
        </p:txBody>
      </p:sp>
      <p:sp>
        <p:nvSpPr>
          <p:cNvPr id="7171" name="Content Placeholder 1"/>
          <p:cNvSpPr>
            <a:spLocks noGrp="1"/>
          </p:cNvSpPr>
          <p:nvPr>
            <p:ph idx="1"/>
          </p:nvPr>
        </p:nvSpPr>
        <p:spPr>
          <a:xfrm>
            <a:off x="457200" y="1844825"/>
            <a:ext cx="8229600" cy="259228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en-US" dirty="0"/>
              <a:t>Learn to write algorithms in pseudocode</a:t>
            </a:r>
          </a:p>
          <a:p>
            <a:r>
              <a:rPr lang="en-GB" altLang="en-US" dirty="0"/>
              <a:t>Create programs from </a:t>
            </a:r>
            <a:r>
              <a:rPr lang="en-GB" altLang="en-US" dirty="0" err="1"/>
              <a:t>pseudocode</a:t>
            </a:r>
            <a:r>
              <a:rPr lang="en-GB" altLang="en-US" dirty="0"/>
              <a:t>/algorithms</a:t>
            </a:r>
          </a:p>
          <a:p>
            <a:pPr eaLnBrk="1" hangingPunct="1"/>
            <a:r>
              <a:rPr lang="en-GB" altLang="en-US" dirty="0"/>
              <a:t>Detect and correct syntax errors </a:t>
            </a:r>
          </a:p>
        </p:txBody>
      </p:sp>
    </p:spTree>
    <p:extLst>
      <p:ext uri="{BB962C8B-B14F-4D97-AF65-F5344CB8AC3E}">
        <p14:creationId xmlns:p14="http://schemas.microsoft.com/office/powerpoint/2010/main" val="206267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99" y="2060848"/>
            <a:ext cx="6995120" cy="4165923"/>
          </a:xfrm>
        </p:spPr>
        <p:txBody>
          <a:bodyPr/>
          <a:lstStyle/>
          <a:p>
            <a:r>
              <a:rPr lang="en-US" dirty="0"/>
              <a:t>The word comes from Al-Khwarizmi (9</a:t>
            </a:r>
            <a:r>
              <a:rPr lang="en-US" baseline="30000" dirty="0"/>
              <a:t>th</a:t>
            </a:r>
            <a:r>
              <a:rPr lang="en-US" dirty="0"/>
              <a:t> century mathematician)</a:t>
            </a:r>
          </a:p>
          <a:p>
            <a:r>
              <a:rPr lang="en-US" dirty="0"/>
              <a:t>Algorithm -  a set of steps that defines how a task is performed (step by step).</a:t>
            </a:r>
          </a:p>
          <a:p>
            <a:r>
              <a:rPr lang="en-US" dirty="0"/>
              <a:t>Cooking – </a:t>
            </a:r>
            <a:r>
              <a:rPr lang="en-US" i="1" dirty="0">
                <a:solidFill>
                  <a:srgbClr val="FF0000"/>
                </a:solidFill>
              </a:rPr>
              <a:t>Recipes</a:t>
            </a:r>
          </a:p>
          <a:p>
            <a:r>
              <a:rPr lang="en-US" dirty="0"/>
              <a:t>Finding you way – </a:t>
            </a:r>
            <a:r>
              <a:rPr lang="en-US" i="1" dirty="0">
                <a:solidFill>
                  <a:srgbClr val="FF0000"/>
                </a:solidFill>
              </a:rPr>
              <a:t>Directions</a:t>
            </a:r>
          </a:p>
          <a:p>
            <a:r>
              <a:rPr lang="en-US" dirty="0"/>
              <a:t>Computers – </a:t>
            </a:r>
            <a:r>
              <a:rPr lang="en-US" i="1" dirty="0">
                <a:solidFill>
                  <a:srgbClr val="FF0000"/>
                </a:solidFill>
              </a:rPr>
              <a:t>Boot Sequence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96" y="987574"/>
            <a:ext cx="16764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3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What does this algorithm do?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 dirty="0">
                <a:solidFill>
                  <a:srgbClr val="FF0000"/>
                </a:solidFill>
                <a:latin typeface="Consolas" pitchFamily="49" charset="0"/>
              </a:rPr>
              <a:t>#</a:t>
            </a:r>
            <a:r>
              <a:rPr lang="en-GB" altLang="en-US" sz="3600" dirty="0" err="1">
                <a:solidFill>
                  <a:srgbClr val="FF0000"/>
                </a:solidFill>
                <a:latin typeface="Consolas" pitchFamily="49" charset="0"/>
              </a:rPr>
              <a:t>GhostHunter</a:t>
            </a:r>
            <a:endParaRPr lang="en-GB" altLang="en-US" sz="3600" dirty="0">
              <a:solidFill>
                <a:srgbClr val="FF0000"/>
              </a:solidFill>
              <a:latin typeface="Consolas" pitchFamily="49" charset="0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 dirty="0">
                <a:solidFill>
                  <a:srgbClr val="E46C0A"/>
                </a:solidFill>
                <a:latin typeface="Consolas" pitchFamily="49" charset="0"/>
              </a:rPr>
              <a:t>if </a:t>
            </a:r>
            <a:r>
              <a:rPr lang="en-GB" altLang="en-US" sz="3600" dirty="0">
                <a:latin typeface="Consolas" pitchFamily="49" charset="0"/>
              </a:rPr>
              <a:t>ghost catches man then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>
                <a:latin typeface="Consolas" pitchFamily="49" charset="0"/>
              </a:rPr>
              <a:t>   	lives </a:t>
            </a:r>
            <a:r>
              <a:rPr lang="en-GB" altLang="en-US" sz="3600" dirty="0">
                <a:latin typeface="Consolas" pitchFamily="49" charset="0"/>
                <a:sym typeface="Wingdings" pitchFamily="2" charset="2"/>
              </a:rPr>
              <a:t> </a:t>
            </a:r>
            <a:r>
              <a:rPr lang="en-GB" altLang="en-US" sz="3600" dirty="0">
                <a:latin typeface="Consolas" pitchFamily="49" charset="0"/>
              </a:rPr>
              <a:t>lives – 1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 dirty="0">
                <a:solidFill>
                  <a:srgbClr val="E46C0A"/>
                </a:solidFill>
                <a:latin typeface="Consolas" pitchFamily="49" charset="0"/>
              </a:rPr>
              <a:t>	if </a:t>
            </a:r>
            <a:r>
              <a:rPr lang="en-GB" altLang="en-US" sz="3600" dirty="0">
                <a:latin typeface="Consolas" pitchFamily="49" charset="0"/>
              </a:rPr>
              <a:t>lives = 0 then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 dirty="0">
                <a:latin typeface="Consolas" pitchFamily="49" charset="0"/>
              </a:rPr>
              <a:t>    	 </a:t>
            </a:r>
            <a:r>
              <a:rPr lang="en-GB" altLang="en-US" sz="3600" dirty="0">
                <a:solidFill>
                  <a:srgbClr val="7030A0"/>
                </a:solidFill>
                <a:latin typeface="Consolas" pitchFamily="49" charset="0"/>
              </a:rPr>
              <a:t>display </a:t>
            </a:r>
            <a:r>
              <a:rPr lang="en-GB" altLang="en-US" sz="3600" dirty="0">
                <a:solidFill>
                  <a:srgbClr val="00B050"/>
                </a:solidFill>
                <a:latin typeface="Consolas" pitchFamily="49" charset="0"/>
              </a:rPr>
              <a:t>"Game Over!"</a:t>
            </a:r>
            <a:endParaRPr lang="en-GB" altLang="en-US" sz="3600" dirty="0">
              <a:latin typeface="Consolas" pitchFamily="49" charset="0"/>
            </a:endParaRPr>
          </a:p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 dirty="0">
                <a:solidFill>
                  <a:srgbClr val="E46C0A"/>
                </a:solidFill>
                <a:latin typeface="Consolas" pitchFamily="49" charset="0"/>
              </a:rPr>
              <a:t>	else</a:t>
            </a:r>
            <a:r>
              <a:rPr lang="en-GB" altLang="en-US" sz="3600" dirty="0">
                <a:latin typeface="Consolas" pitchFamily="49" charset="0"/>
              </a:rPr>
              <a:t> </a:t>
            </a:r>
          </a:p>
          <a:p>
            <a:pPr marL="0" indent="0" eaLnBrk="1" hangingPunct="1">
              <a:buFont typeface="Arial" pitchFamily="34" charset="0"/>
              <a:buNone/>
            </a:pPr>
            <a:r>
              <a:rPr lang="en-GB" altLang="en-US" sz="3600" dirty="0">
                <a:latin typeface="Consolas" pitchFamily="49" charset="0"/>
              </a:rPr>
              <a:t>		 </a:t>
            </a:r>
            <a:r>
              <a:rPr lang="en-GB" altLang="en-US" sz="3600" dirty="0">
                <a:solidFill>
                  <a:srgbClr val="7030A0"/>
                </a:solidFill>
                <a:latin typeface="Consolas" pitchFamily="49" charset="0"/>
              </a:rPr>
              <a:t>display </a:t>
            </a:r>
            <a:r>
              <a:rPr lang="en-GB" altLang="en-US" sz="3600" dirty="0">
                <a:solidFill>
                  <a:srgbClr val="00B050"/>
                </a:solidFill>
                <a:latin typeface="Consolas" pitchFamily="49" charset="0"/>
              </a:rPr>
              <a:t>"</a:t>
            </a:r>
            <a:r>
              <a:rPr lang="en-GB" altLang="en-US" sz="3600" dirty="0" err="1">
                <a:solidFill>
                  <a:srgbClr val="00B050"/>
                </a:solidFill>
                <a:latin typeface="Consolas" pitchFamily="49" charset="0"/>
              </a:rPr>
              <a:t>Arghhh</a:t>
            </a:r>
            <a:r>
              <a:rPr lang="en-GB" altLang="en-US" sz="3600" dirty="0">
                <a:solidFill>
                  <a:srgbClr val="00B050"/>
                </a:solidFill>
                <a:latin typeface="Consolas" pitchFamily="49" charset="0"/>
              </a:rPr>
              <a:t>!"</a:t>
            </a:r>
            <a:endParaRPr lang="en-GB" altLang="en-US" sz="3600" dirty="0">
              <a:latin typeface="Consolas" pitchFamily="49" charset="0"/>
            </a:endParaRPr>
          </a:p>
          <a:p>
            <a:pPr marL="0" indent="0" eaLnBrk="1" hangingPunct="1"/>
            <a:endParaRPr lang="en-GB" altLang="en-US" sz="2600" dirty="0"/>
          </a:p>
        </p:txBody>
      </p:sp>
    </p:spTree>
    <p:extLst>
      <p:ext uri="{BB962C8B-B14F-4D97-AF65-F5344CB8AC3E}">
        <p14:creationId xmlns:p14="http://schemas.microsoft.com/office/powerpoint/2010/main" val="57791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Pseudocode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 dirty="0"/>
              <a:t>Pseudocode is half code, half English</a:t>
            </a:r>
          </a:p>
          <a:p>
            <a:pPr eaLnBrk="1" hangingPunct="1"/>
            <a:r>
              <a:rPr lang="en-GB" altLang="en-US" sz="3600" dirty="0"/>
              <a:t>It has no real syntax and would not run</a:t>
            </a:r>
          </a:p>
          <a:p>
            <a:pPr eaLnBrk="1" hangingPunct="1"/>
            <a:r>
              <a:rPr lang="en-GB" altLang="en-US" sz="3600" dirty="0"/>
              <a:t>It is a structured sequence of instructions</a:t>
            </a:r>
          </a:p>
          <a:p>
            <a:pPr eaLnBrk="1" hangingPunct="1"/>
            <a:r>
              <a:rPr lang="en-GB" altLang="en-US" sz="3600" dirty="0"/>
              <a:t>It is useful for planning algorithms</a:t>
            </a:r>
          </a:p>
          <a:p>
            <a:pPr eaLnBrk="1" hangingPunct="1">
              <a:buFont typeface="Arial" pitchFamily="34" charset="0"/>
              <a:buNone/>
            </a:pPr>
            <a:endParaRPr lang="en-GB" altLang="en-US" sz="3600" dirty="0"/>
          </a:p>
          <a:p>
            <a:pPr algn="ctr" eaLnBrk="1" hangingPunct="1">
              <a:buFont typeface="Arial" pitchFamily="34" charset="0"/>
              <a:buNone/>
            </a:pPr>
            <a:r>
              <a:rPr lang="en-GB" altLang="en-US" sz="3600" b="1" dirty="0"/>
              <a:t>Use it to plan before coding!</a:t>
            </a:r>
          </a:p>
          <a:p>
            <a:pPr eaLnBrk="1" hangingPunct="1"/>
            <a:endParaRPr lang="en-GB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26025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Suggested language for Pseudocode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680520"/>
          </a:xfrm>
        </p:spPr>
        <p:txBody>
          <a:bodyPr/>
          <a:lstStyle/>
          <a:p>
            <a:pPr eaLnBrk="1" hangingPunct="1"/>
            <a:r>
              <a:rPr lang="en-GB" altLang="en-US" dirty="0"/>
              <a:t>Use indentation in pseudocode</a:t>
            </a:r>
          </a:p>
          <a:p>
            <a:pPr eaLnBrk="1" hangingPunct="1"/>
            <a:r>
              <a:rPr lang="en-GB" altLang="en-US" dirty="0"/>
              <a:t>Use words such as:</a:t>
            </a:r>
          </a:p>
          <a:p>
            <a:pPr algn="ctr" eaLnBrk="1" hangingPunct="1">
              <a:buFont typeface="Arial" pitchFamily="34" charset="0"/>
              <a:buNone/>
            </a:pPr>
            <a:r>
              <a:rPr lang="en-GB" altLang="en-US" sz="4000" b="1" dirty="0"/>
              <a:t>print</a:t>
            </a:r>
            <a:r>
              <a:rPr lang="en-GB" altLang="en-US" sz="4000" dirty="0"/>
              <a:t>, </a:t>
            </a:r>
            <a:r>
              <a:rPr lang="en-GB" altLang="en-US" sz="4000" b="1" dirty="0"/>
              <a:t>display</a:t>
            </a:r>
            <a:r>
              <a:rPr lang="en-GB" altLang="en-US" sz="4000" dirty="0"/>
              <a:t>, </a:t>
            </a:r>
            <a:r>
              <a:rPr lang="en-GB" altLang="en-US" sz="4000" b="1" dirty="0"/>
              <a:t>show, read, obtain</a:t>
            </a:r>
            <a:r>
              <a:rPr lang="en-GB" altLang="en-US" sz="4000" dirty="0"/>
              <a:t>, </a:t>
            </a:r>
            <a:r>
              <a:rPr lang="en-GB" altLang="en-US" sz="4000" b="1" dirty="0"/>
              <a:t>get</a:t>
            </a:r>
            <a:r>
              <a:rPr lang="en-GB" altLang="en-US" sz="4000" dirty="0"/>
              <a:t>, </a:t>
            </a:r>
            <a:r>
              <a:rPr lang="en-GB" altLang="en-US" sz="4000" b="1" dirty="0"/>
              <a:t>input</a:t>
            </a:r>
            <a:r>
              <a:rPr lang="en-GB" altLang="en-US" sz="4000" dirty="0"/>
              <a:t>, </a:t>
            </a:r>
            <a:r>
              <a:rPr lang="en-GB" altLang="en-US" sz="4000" b="1" dirty="0"/>
              <a:t>output</a:t>
            </a:r>
            <a:r>
              <a:rPr lang="en-GB" altLang="en-US" sz="4000" dirty="0"/>
              <a:t>, </a:t>
            </a:r>
            <a:r>
              <a:rPr lang="en-GB" altLang="en-US" sz="4000" b="1" dirty="0"/>
              <a:t>calculate</a:t>
            </a:r>
            <a:r>
              <a:rPr lang="en-GB" altLang="en-US" sz="4000" dirty="0"/>
              <a:t>, </a:t>
            </a:r>
            <a:r>
              <a:rPr lang="en-GB" altLang="en-US" sz="4000" b="1" dirty="0"/>
              <a:t>add</a:t>
            </a:r>
            <a:r>
              <a:rPr lang="en-GB" altLang="en-US" sz="4000" dirty="0"/>
              <a:t>, </a:t>
            </a:r>
            <a:r>
              <a:rPr lang="en-GB" altLang="en-US" sz="4000" b="1" dirty="0"/>
              <a:t>set</a:t>
            </a:r>
            <a:r>
              <a:rPr lang="en-GB" altLang="en-US" sz="4000" dirty="0"/>
              <a:t>, </a:t>
            </a:r>
            <a:r>
              <a:rPr lang="en-GB" altLang="en-US" sz="4000" b="1" dirty="0"/>
              <a:t>reset, if, then, else, set, init, increment, decrement</a:t>
            </a:r>
          </a:p>
          <a:p>
            <a:pPr eaLnBrk="1" hangingPunct="1">
              <a:buFont typeface="Arial" pitchFamily="34" charset="0"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6121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Group 10"/>
          <p:cNvGrpSpPr>
            <a:grpSpLocks/>
          </p:cNvGrpSpPr>
          <p:nvPr/>
        </p:nvGrpSpPr>
        <p:grpSpPr bwMode="auto">
          <a:xfrm>
            <a:off x="1218174" y="1947578"/>
            <a:ext cx="6077251" cy="4119959"/>
            <a:chOff x="1180011" y="1916832"/>
            <a:chExt cx="6200301" cy="4202222"/>
          </a:xfrm>
        </p:grpSpPr>
        <p:sp>
          <p:nvSpPr>
            <p:cNvPr id="8" name="Rectangle 7"/>
            <p:cNvSpPr/>
            <p:nvPr/>
          </p:nvSpPr>
          <p:spPr>
            <a:xfrm>
              <a:off x="2124501" y="3729120"/>
              <a:ext cx="5255811" cy="5776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24501" y="4892347"/>
              <a:ext cx="4671656" cy="5760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180011" y="1916832"/>
              <a:ext cx="5768534" cy="57605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80011" y="5542994"/>
              <a:ext cx="4897063" cy="5760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91122" y="2492891"/>
              <a:ext cx="879408" cy="305010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24501" y="4306766"/>
              <a:ext cx="855598" cy="58875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Pseudocode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5882" y="1922098"/>
            <a:ext cx="8229600" cy="4165923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b="1" dirty="0"/>
              <a:t>if</a:t>
            </a:r>
            <a:r>
              <a:rPr lang="en-GB" dirty="0"/>
              <a:t> </a:t>
            </a:r>
            <a:r>
              <a:rPr lang="en-GB" i="1" dirty="0"/>
              <a:t>unlock button pressed </a:t>
            </a:r>
            <a:r>
              <a:rPr lang="en-GB" b="1" dirty="0"/>
              <a:t>then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b="1" dirty="0"/>
              <a:t>display</a:t>
            </a:r>
            <a:r>
              <a:rPr lang="en-GB" dirty="0"/>
              <a:t> PIN unlock screen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b="1" dirty="0"/>
              <a:t>input</a:t>
            </a:r>
            <a:r>
              <a:rPr lang="en-GB" dirty="0"/>
              <a:t> PIN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b="1" dirty="0"/>
              <a:t>if</a:t>
            </a:r>
            <a:r>
              <a:rPr lang="en-GB" dirty="0"/>
              <a:t> </a:t>
            </a:r>
            <a:r>
              <a:rPr lang="en-GB" i="1" dirty="0"/>
              <a:t>correct PIN entered </a:t>
            </a:r>
            <a:r>
              <a:rPr lang="en-GB" b="1" dirty="0"/>
              <a:t>then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	unlock phone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/>
              <a:t>	</a:t>
            </a:r>
            <a:r>
              <a:rPr lang="en-GB" b="1" dirty="0"/>
              <a:t>else</a:t>
            </a:r>
            <a:r>
              <a:rPr lang="en-GB" dirty="0"/>
              <a:t> </a:t>
            </a:r>
            <a:r>
              <a:rPr lang="en-GB" b="1" dirty="0"/>
              <a:t>display</a:t>
            </a:r>
            <a:r>
              <a:rPr lang="en-GB" dirty="0"/>
              <a:t> “Try again”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b="1" dirty="0"/>
              <a:t>else</a:t>
            </a:r>
            <a:r>
              <a:rPr lang="en-GB" dirty="0"/>
              <a:t> </a:t>
            </a:r>
            <a:r>
              <a:rPr lang="en-GB" b="1" dirty="0"/>
              <a:t>display</a:t>
            </a:r>
            <a:r>
              <a:rPr lang="en-GB" dirty="0"/>
              <a:t> lock screen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427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5"/>
            <a:ext cx="8229600" cy="2473176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2800" dirty="0"/>
              <a:t>Write a pseudocode algorithm to display the correct hat size based on the circumference of your head: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800" dirty="0"/>
              <a:t>Less than 57cm = Small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800" dirty="0"/>
              <a:t>Greater than 60cm = Large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800" dirty="0"/>
              <a:t>Anything in between = Medium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8000"/>
            <a:ext cx="8629650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866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Now write the code…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You should understand the problem more clearly</a:t>
            </a:r>
          </a:p>
          <a:p>
            <a:pPr eaLnBrk="1" hangingPunct="1"/>
            <a:r>
              <a:rPr lang="en-GB" altLang="en-US"/>
              <a:t>It should be easier to write – in any language!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3663950"/>
            <a:ext cx="333375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0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A Type of programming error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4000" dirty="0"/>
              <a:t>Syntax Errors</a:t>
            </a:r>
          </a:p>
          <a:p>
            <a:pPr eaLnBrk="1" hangingPunct="1"/>
            <a:r>
              <a:rPr lang="en-GB" altLang="en-US" sz="4000" dirty="0"/>
              <a:t>Rules of the language are broken</a:t>
            </a:r>
          </a:p>
          <a:p>
            <a:pPr eaLnBrk="1" hangingPunct="1"/>
            <a:r>
              <a:rPr lang="en-GB" altLang="en-US" sz="4000" dirty="0"/>
              <a:t>E.g. Spelling mistake , incorrect functions used , missing out a </a:t>
            </a:r>
            <a:r>
              <a:rPr lang="en-GB" altLang="en-US" sz="4000" dirty="0">
                <a:solidFill>
                  <a:srgbClr val="FF0000"/>
                </a:solidFill>
              </a:rPr>
              <a:t>:</a:t>
            </a:r>
            <a:r>
              <a:rPr lang="en-GB" altLang="en-US" sz="4000" dirty="0"/>
              <a:t> </a:t>
            </a:r>
          </a:p>
        </p:txBody>
      </p:sp>
      <p:pic>
        <p:nvPicPr>
          <p:cNvPr id="14340" name="Picture 2" descr="http://bulldogdata.com/wp-content/uploads/2012/08/symbol-erro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309" y="983984"/>
            <a:ext cx="1806017" cy="180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93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Debugging exercise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Look at the program in your folder called  </a:t>
            </a:r>
            <a:r>
              <a:rPr lang="en-GB" altLang="en-US" dirty="0">
                <a:solidFill>
                  <a:srgbClr val="E46C0A"/>
                </a:solidFill>
              </a:rPr>
              <a:t>SeasonFinderBUGS.py</a:t>
            </a:r>
            <a:r>
              <a:rPr lang="en-GB" altLang="en-US" dirty="0"/>
              <a:t> </a:t>
            </a:r>
          </a:p>
          <a:p>
            <a:r>
              <a:rPr lang="en-GB" altLang="en-US" dirty="0">
                <a:solidFill>
                  <a:srgbClr val="FF0000"/>
                </a:solidFill>
              </a:rPr>
              <a:t>Your Task</a:t>
            </a:r>
            <a:r>
              <a:rPr lang="en-GB" altLang="en-US" dirty="0"/>
              <a:t> is to see if you can find and correct the syntax errors.</a:t>
            </a:r>
            <a:r>
              <a:rPr lang="en-GB" altLang="en-US" dirty="0">
                <a:solidFill>
                  <a:srgbClr val="E46C0A"/>
                </a:solidFill>
              </a:rPr>
              <a:t>	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27905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EE70-5F65-493D-BCB8-C608B97F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Tasks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F892-3429-4F10-BB6A-610189258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following:</a:t>
            </a:r>
          </a:p>
          <a:p>
            <a:pPr lvl="1"/>
            <a:r>
              <a:rPr lang="en-US" dirty="0"/>
              <a:t>Python Worksheet Algorithms</a:t>
            </a:r>
          </a:p>
          <a:p>
            <a:pPr lvl="1"/>
            <a:r>
              <a:rPr lang="en-US" dirty="0"/>
              <a:t>Pseudocode Task</a:t>
            </a:r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b="1" u="sng" dirty="0">
                <a:solidFill>
                  <a:srgbClr val="FF0000"/>
                </a:solidFill>
              </a:rPr>
              <a:t>Use the Pseudocode Command sheet to help you </a:t>
            </a:r>
            <a:endParaRPr lang="en-GB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550704"/>
      </p:ext>
    </p:extLst>
  </p:cSld>
  <p:clrMapOvr>
    <a:masterClrMapping/>
  </p:clrMapOvr>
</p:sld>
</file>

<file path=ppt/theme/theme1.xml><?xml version="1.0" encoding="utf-8"?>
<a:theme xmlns:a="http://schemas.openxmlformats.org/drawingml/2006/main" name="PGOnline PP Guid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PGOnline PP Guide Template</Template>
  <TotalTime>98</TotalTime>
  <Words>369</Words>
  <Application>Microsoft Office PowerPoint</Application>
  <PresentationFormat>On-screen Show (4:3)</PresentationFormat>
  <Paragraphs>60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Museo 700</vt:lpstr>
      <vt:lpstr>Museo 300</vt:lpstr>
      <vt:lpstr>Consolas</vt:lpstr>
      <vt:lpstr>PGOnline PP Guide Template</vt:lpstr>
      <vt:lpstr>Writing Algorithms</vt:lpstr>
      <vt:lpstr>Learning Objectives</vt:lpstr>
      <vt:lpstr>Define Algorithm</vt:lpstr>
      <vt:lpstr>What does this algorithm do?</vt:lpstr>
      <vt:lpstr>Writing Pseudocode</vt:lpstr>
      <vt:lpstr>Suggested language for Pseudocode</vt:lpstr>
      <vt:lpstr>Pseudocode Example:</vt:lpstr>
      <vt:lpstr>Writing an Algorithm</vt:lpstr>
      <vt:lpstr>Now write the code…</vt:lpstr>
      <vt:lpstr>A Type of programming error</vt:lpstr>
      <vt:lpstr>Debugging exercise</vt:lpstr>
      <vt:lpstr>Pseudocode 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Algorithms</dc:title>
  <dc:creator/>
  <cp:lastModifiedBy>Rahil Jamil</cp:lastModifiedBy>
  <cp:revision>22</cp:revision>
  <dcterms:created xsi:type="dcterms:W3CDTF">2013-11-02T09:44:28Z</dcterms:created>
  <dcterms:modified xsi:type="dcterms:W3CDTF">2021-10-30T12:49:58Z</dcterms:modified>
</cp:coreProperties>
</file>